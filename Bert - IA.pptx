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732" r:id="rId2"/>
    <p:sldId id="257" r:id="rId3"/>
    <p:sldId id="570" r:id="rId4"/>
    <p:sldId id="387" r:id="rId5"/>
    <p:sldId id="733" r:id="rId6"/>
    <p:sldId id="779" r:id="rId7"/>
    <p:sldId id="734" r:id="rId8"/>
    <p:sldId id="735" r:id="rId9"/>
    <p:sldId id="736" r:id="rId10"/>
    <p:sldId id="737" r:id="rId11"/>
    <p:sldId id="738" r:id="rId12"/>
    <p:sldId id="739" r:id="rId13"/>
    <p:sldId id="740" r:id="rId14"/>
    <p:sldId id="741" r:id="rId15"/>
    <p:sldId id="742" r:id="rId16"/>
    <p:sldId id="744" r:id="rId17"/>
    <p:sldId id="746" r:id="rId18"/>
    <p:sldId id="747" r:id="rId19"/>
    <p:sldId id="748" r:id="rId20"/>
    <p:sldId id="749" r:id="rId21"/>
    <p:sldId id="750" r:id="rId22"/>
    <p:sldId id="752" r:id="rId23"/>
    <p:sldId id="751" r:id="rId24"/>
    <p:sldId id="753" r:id="rId25"/>
    <p:sldId id="754" r:id="rId26"/>
    <p:sldId id="756" r:id="rId27"/>
    <p:sldId id="755" r:id="rId28"/>
    <p:sldId id="757" r:id="rId29"/>
    <p:sldId id="758" r:id="rId30"/>
    <p:sldId id="759" r:id="rId31"/>
    <p:sldId id="760" r:id="rId32"/>
    <p:sldId id="761" r:id="rId33"/>
    <p:sldId id="762" r:id="rId34"/>
    <p:sldId id="763" r:id="rId35"/>
    <p:sldId id="764" r:id="rId36"/>
    <p:sldId id="765" r:id="rId37"/>
    <p:sldId id="766" r:id="rId38"/>
    <p:sldId id="767" r:id="rId39"/>
    <p:sldId id="768" r:id="rId40"/>
    <p:sldId id="769" r:id="rId41"/>
    <p:sldId id="770" r:id="rId42"/>
    <p:sldId id="771" r:id="rId43"/>
    <p:sldId id="772" r:id="rId44"/>
    <p:sldId id="773" r:id="rId45"/>
    <p:sldId id="774" r:id="rId46"/>
    <p:sldId id="775" r:id="rId47"/>
    <p:sldId id="776" r:id="rId48"/>
    <p:sldId id="777" r:id="rId49"/>
    <p:sldId id="778" r:id="rId50"/>
    <p:sldId id="258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nB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00A68B"/>
    <a:srgbClr val="047C7C"/>
    <a:srgbClr val="2E49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4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44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9519E-4C01-43DA-AF72-39D88A32BF26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41B02-E317-4C8B-A130-327D949C14C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7797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DDEB0-F526-4A16-B134-871C9B4CBC6D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20C10-D299-4FB1-BE7E-E11BADE5B5B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839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blipFill dpi="0" rotWithShape="1">
          <a:blip r:embed="rId2">
            <a:lum/>
          </a:blip>
          <a:srcRect/>
          <a:stretch>
            <a:fillRect l="-22000" r="-2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4268039"/>
            <a:ext cx="9144000" cy="1029730"/>
          </a:xfrm>
        </p:spPr>
        <p:txBody>
          <a:bodyPr anchor="b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Insira o nome do curso</a:t>
            </a:r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599" y="1726837"/>
            <a:ext cx="5666801" cy="195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12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 hasCustomPrompt="1"/>
          </p:nvPr>
        </p:nvSpPr>
        <p:spPr>
          <a:xfrm>
            <a:off x="214" y="6533164"/>
            <a:ext cx="10306050" cy="255587"/>
          </a:xfrm>
        </p:spPr>
        <p:txBody>
          <a:bodyPr>
            <a:noAutofit/>
          </a:bodyPr>
          <a:lstStyle>
            <a:lvl1pPr marL="0" indent="0"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Titulo do Curso Ofertado</a:t>
            </a:r>
          </a:p>
        </p:txBody>
      </p:sp>
    </p:spTree>
    <p:extLst>
      <p:ext uri="{BB962C8B-B14F-4D97-AF65-F5344CB8AC3E}">
        <p14:creationId xmlns:p14="http://schemas.microsoft.com/office/powerpoint/2010/main" val="199457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2199459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AB0619-28F1-4F11-A0E2-8032678AFA3A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B0BCE0-F60B-430A-B143-EE92939C1C8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45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352931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6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1354608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167455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321085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505713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2580062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Subtítulo 2"/>
          <p:cNvSpPr txBox="1">
            <a:spLocks/>
          </p:cNvSpPr>
          <p:nvPr userDrawn="1"/>
        </p:nvSpPr>
        <p:spPr>
          <a:xfrm>
            <a:off x="17686" y="6519147"/>
            <a:ext cx="9144000" cy="43042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600" dirty="0">
                <a:solidFill>
                  <a:schemeClr val="bg1"/>
                </a:solidFill>
              </a:rPr>
              <a:t>Nome do Curso Apresentado</a:t>
            </a:r>
          </a:p>
        </p:txBody>
      </p:sp>
    </p:spTree>
    <p:extLst>
      <p:ext uri="{BB962C8B-B14F-4D97-AF65-F5344CB8AC3E}">
        <p14:creationId xmlns:p14="http://schemas.microsoft.com/office/powerpoint/2010/main" val="3758378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r="-1"/>
          <a:stretch/>
        </p:blipFill>
        <p:spPr>
          <a:xfrm>
            <a:off x="1" y="-2568"/>
            <a:ext cx="12192000" cy="686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6569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591019-593C-44B3-B0EF-CA9BC27B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647B5-74A7-4ADE-BC16-E3B19703ACA6}" type="datetime4">
              <a:rPr lang="nl-NL" altLang="pt-BR"/>
              <a:pPr/>
              <a:t>12 april 2026</a:t>
            </a:fld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BD9A01-2700-4A2A-85EC-AA3EC8560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Aula 3 - 12/03/2008Aula 1 - 05/03/2008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F71E23-E913-4A11-86D2-115DCBBD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56A74C-CAD1-4BDC-8546-CD601B2A7F6F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7535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52F28-4622-2443-AE91-45D1FD4F635C}" type="datetime1">
              <a:rPr lang="pt-BR"/>
              <a:pPr>
                <a:defRPr/>
              </a:pPr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983567" y="6308726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Aula 1 - 11/08/10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636F9-6766-8B4B-962A-5C8EF8E6850E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406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Retângulo 6"/>
          <p:cNvSpPr/>
          <p:nvPr userDrawn="1"/>
        </p:nvSpPr>
        <p:spPr>
          <a:xfrm>
            <a:off x="0" y="6458465"/>
            <a:ext cx="12192000" cy="399536"/>
          </a:xfrm>
          <a:prstGeom prst="rect">
            <a:avLst/>
          </a:prstGeom>
          <a:solidFill>
            <a:srgbClr val="00A68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124" y="6474941"/>
            <a:ext cx="1048447" cy="36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31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prender3.unb.br/course/view.php?id=29953" TargetMode="Externa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ic.unb.br/~weigang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ítulo 1"/>
          <p:cNvSpPr>
            <a:spLocks noGrp="1"/>
          </p:cNvSpPr>
          <p:nvPr>
            <p:ph type="ctrTitle"/>
          </p:nvPr>
        </p:nvSpPr>
        <p:spPr>
          <a:xfrm>
            <a:off x="313570" y="1052514"/>
            <a:ext cx="11476668" cy="2833687"/>
          </a:xfrm>
        </p:spPr>
        <p:txBody>
          <a:bodyPr/>
          <a:lstStyle/>
          <a:p>
            <a:pPr algn="ctr"/>
            <a:br>
              <a:rPr lang="pt-BR" b="1" dirty="0">
                <a:latin typeface="Calibri" charset="0"/>
              </a:rPr>
            </a:br>
            <a:r>
              <a:rPr lang="en-US" b="0" i="0" u="sng" dirty="0">
                <a:solidFill>
                  <a:srgbClr val="071623"/>
                </a:solidFill>
                <a:effectLst/>
                <a:latin typeface="Encode Sans"/>
                <a:hlinkClick r:id="rId2"/>
              </a:rPr>
              <a:t>PPGI2221 - INTELIGÊNCIA ARTIFICIAL 1 </a:t>
            </a:r>
            <a:br>
              <a:rPr lang="en-US" b="0" i="0" u="sng" dirty="0">
                <a:solidFill>
                  <a:srgbClr val="071623"/>
                </a:solidFill>
                <a:effectLst/>
                <a:latin typeface="Encode Sans"/>
                <a:hlinkClick r:id="rId2"/>
              </a:rPr>
            </a:br>
            <a:r>
              <a:rPr lang="en-US" sz="3600" dirty="0">
                <a:latin typeface="Calibri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Turma 01</a:t>
            </a:r>
            <a:r>
              <a:rPr lang="pt-BR" sz="3600" dirty="0">
                <a:latin typeface="Calibri" charset="0"/>
              </a:rPr>
              <a:t>, </a:t>
            </a:r>
            <a:r>
              <a:rPr lang="pt-BR" sz="3600" b="1" dirty="0">
                <a:latin typeface="Calibri" charset="0"/>
              </a:rPr>
              <a:t>01/2026</a:t>
            </a:r>
            <a:endParaRPr lang="pt-BR" b="1" dirty="0">
              <a:latin typeface="Calibri" charset="0"/>
            </a:endParaRPr>
          </a:p>
        </p:txBody>
      </p:sp>
      <p:sp>
        <p:nvSpPr>
          <p:cNvPr id="15362" name="Subtítulo 2"/>
          <p:cNvSpPr>
            <a:spLocks noGrp="1"/>
          </p:cNvSpPr>
          <p:nvPr>
            <p:ph type="subTitle" idx="1"/>
          </p:nvPr>
        </p:nvSpPr>
        <p:spPr>
          <a:xfrm>
            <a:off x="1828800" y="4581525"/>
            <a:ext cx="8534400" cy="1752600"/>
          </a:xfrm>
        </p:spPr>
        <p:txBody>
          <a:bodyPr/>
          <a:lstStyle/>
          <a:p>
            <a:pPr eaLnBrk="1" hangingPunct="1"/>
            <a:r>
              <a:rPr lang="pt-BR" dirty="0" err="1">
                <a:solidFill>
                  <a:schemeClr val="tx1"/>
                </a:solidFill>
                <a:latin typeface="Calibri" charset="0"/>
              </a:rPr>
              <a:t>PPGInf</a:t>
            </a:r>
            <a:r>
              <a:rPr lang="pt-BR" dirty="0">
                <a:solidFill>
                  <a:schemeClr val="tx1"/>
                </a:solidFill>
                <a:latin typeface="Calibri" charset="0"/>
              </a:rPr>
              <a:t> - CIC/UnB</a:t>
            </a:r>
          </a:p>
          <a:p>
            <a:pPr eaLnBrk="1" hangingPunct="1"/>
            <a:r>
              <a:rPr lang="pt-BR" dirty="0">
                <a:solidFill>
                  <a:schemeClr val="tx1"/>
                </a:solidFill>
                <a:latin typeface="Calibri" charset="0"/>
              </a:rPr>
              <a:t>Prof. Li </a:t>
            </a:r>
            <a:r>
              <a:rPr lang="pt-BR" dirty="0" err="1">
                <a:solidFill>
                  <a:schemeClr val="tx1"/>
                </a:solidFill>
                <a:latin typeface="Calibri" charset="0"/>
              </a:rPr>
              <a:t>Weigang</a:t>
            </a:r>
            <a:endParaRPr lang="pt-BR" dirty="0">
              <a:solidFill>
                <a:schemeClr val="tx1"/>
              </a:solidFill>
              <a:latin typeface="Calibri" charset="0"/>
            </a:endParaRPr>
          </a:p>
          <a:p>
            <a:pPr eaLnBrk="1" hangingPunct="1"/>
            <a:r>
              <a:rPr lang="pt-BR" dirty="0" err="1">
                <a:solidFill>
                  <a:schemeClr val="tx1"/>
                </a:solidFill>
                <a:latin typeface="Calibri" charset="0"/>
              </a:rPr>
              <a:t>weigang@unb.br</a:t>
            </a:r>
            <a:r>
              <a:rPr lang="pt-BR" dirty="0">
                <a:solidFill>
                  <a:schemeClr val="tx1"/>
                </a:solidFill>
                <a:latin typeface="Calibr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520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413" y="1402672"/>
            <a:ext cx="11234058" cy="423098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133350" y="6515747"/>
            <a:ext cx="10306050" cy="255587"/>
          </a:xfrm>
        </p:spPr>
        <p:txBody>
          <a:bodyPr/>
          <a:lstStyle/>
          <a:p>
            <a:r>
              <a:rPr lang="pt-BR" b="1" dirty="0"/>
              <a:t>Introdução</a:t>
            </a:r>
            <a:r>
              <a:rPr lang="pt-BR" dirty="0"/>
              <a:t> à </a:t>
            </a:r>
            <a:r>
              <a:rPr lang="pt-BR" b="1" dirty="0"/>
              <a:t>Inteligência Artificial</a:t>
            </a:r>
            <a:r>
              <a:rPr lang="pt-BR" dirty="0"/>
              <a:t>  </a:t>
            </a:r>
            <a:r>
              <a:rPr lang="pt-BR" b="1" dirty="0"/>
              <a:t>– IIA, 2020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1986D0A-1F6D-4487-994B-C40858E71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1658" y="1813265"/>
            <a:ext cx="3799422" cy="423098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7FEB84F-7AB9-4A62-8CA8-B78401D339E5}"/>
              </a:ext>
            </a:extLst>
          </p:cNvPr>
          <p:cNvSpPr txBox="1">
            <a:spLocks/>
          </p:cNvSpPr>
          <p:nvPr/>
        </p:nvSpPr>
        <p:spPr>
          <a:xfrm>
            <a:off x="584529" y="1967021"/>
            <a:ext cx="6369728" cy="3873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altLang="pt-BR" dirty="0"/>
              <a:t>Material:</a:t>
            </a:r>
          </a:p>
          <a:p>
            <a:pPr lvl="1"/>
            <a:r>
              <a:rPr lang="pt-BR" dirty="0">
                <a:solidFill>
                  <a:schemeClr val="tx2"/>
                </a:solidFill>
              </a:rPr>
              <a:t>Internet </a:t>
            </a:r>
            <a:r>
              <a:rPr lang="pt-BR" dirty="0" err="1">
                <a:solidFill>
                  <a:schemeClr val="tx2"/>
                </a:solidFill>
              </a:rPr>
              <a:t>references</a:t>
            </a:r>
            <a:endParaRPr lang="pt-BR" altLang="pt-BR" sz="2400" dirty="0">
              <a:solidFill>
                <a:schemeClr val="tx2"/>
              </a:solidFill>
            </a:endParaRPr>
          </a:p>
          <a:p>
            <a:r>
              <a:rPr lang="pt-BR" altLang="pt-BR" dirty="0"/>
              <a:t>Contato: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altLang="pt-BR" dirty="0"/>
              <a:t>weigang@unb.br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altLang="pt-BR" dirty="0"/>
              <a:t>weigangbr@gmail.com</a:t>
            </a:r>
          </a:p>
          <a:p>
            <a:r>
              <a:rPr lang="pt-BR" altLang="pt-BR" dirty="0"/>
              <a:t>Página web:</a:t>
            </a:r>
          </a:p>
          <a:p>
            <a:pPr lvl="1">
              <a:buNone/>
            </a:pPr>
            <a:r>
              <a:rPr lang="pt-BR" dirty="0">
                <a:hlinkClick r:id="rId3"/>
              </a:rPr>
              <a:t>https://cic.unb.br/~weigang/</a:t>
            </a:r>
            <a:endParaRPr lang="pt-BR" altLang="pt-BR" dirty="0"/>
          </a:p>
          <a:p>
            <a:pPr lvl="1">
              <a:buFont typeface="Arial" panose="020B0604020202020204" pitchFamily="34" charset="0"/>
              <a:buNone/>
            </a:pPr>
            <a:endParaRPr lang="pt-BR" altLang="pt-BR" dirty="0"/>
          </a:p>
          <a:p>
            <a:pPr lvl="1"/>
            <a:endParaRPr lang="pt-BR" altLang="pt-BR" dirty="0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A90C96A-1568-4B29-8A70-BCC39672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539056" cy="1143000"/>
          </a:xfrm>
        </p:spPr>
        <p:txBody>
          <a:bodyPr>
            <a:normAutofit/>
          </a:bodyPr>
          <a:lstStyle/>
          <a:p>
            <a:r>
              <a:rPr lang="pt-BR" altLang="pt-BR" sz="4000" b="1" dirty="0"/>
              <a:t>Lógica de predicados de 1ª ordem</a:t>
            </a:r>
          </a:p>
        </p:txBody>
      </p:sp>
      <p:pic>
        <p:nvPicPr>
          <p:cNvPr id="1026" name="Picture 2" descr="Resultado de imagem para Busca Competitiva">
            <a:extLst>
              <a:ext uri="{FF2B5EF4-FFF2-40B4-BE49-F238E27FC236}">
                <a16:creationId xmlns:a16="http://schemas.microsoft.com/office/drawing/2014/main" id="{46B49436-6239-4D24-ABED-D1AA0831D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811" y="3321728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25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413" y="1402672"/>
            <a:ext cx="11234058" cy="423098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133350" y="6515747"/>
            <a:ext cx="10306050" cy="255587"/>
          </a:xfrm>
        </p:spPr>
        <p:txBody>
          <a:bodyPr/>
          <a:lstStyle/>
          <a:p>
            <a:r>
              <a:rPr lang="pt-BR" b="1" dirty="0"/>
              <a:t>Introdução</a:t>
            </a:r>
            <a:r>
              <a:rPr lang="pt-BR" dirty="0"/>
              <a:t> à </a:t>
            </a:r>
            <a:r>
              <a:rPr lang="pt-BR" b="1" dirty="0"/>
              <a:t>Inteligência Artificial</a:t>
            </a:r>
            <a:r>
              <a:rPr lang="pt-BR" dirty="0"/>
              <a:t>  </a:t>
            </a:r>
            <a:r>
              <a:rPr lang="pt-BR" b="1" dirty="0"/>
              <a:t>– IIA, 2020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A90C96A-1568-4B29-8A70-BCC39672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010" y="1363060"/>
            <a:ext cx="9539056" cy="1143000"/>
          </a:xfrm>
        </p:spPr>
        <p:txBody>
          <a:bodyPr>
            <a:normAutofit fontScale="90000"/>
          </a:bodyPr>
          <a:lstStyle/>
          <a:p>
            <a:r>
              <a:rPr lang="en-US" sz="4300" b="1" dirty="0"/>
              <a:t>BERT </a:t>
            </a:r>
            <a:r>
              <a:rPr lang="pt-BR" sz="4300" b="1" dirty="0"/>
              <a:t>- </a:t>
            </a:r>
            <a:r>
              <a:rPr lang="en-US" sz="4300" b="1" dirty="0"/>
              <a:t>Bidirectional Encoder Representation from Transformers</a:t>
            </a:r>
            <a:endParaRPr lang="pt-BR" altLang="pt-BR" sz="4300" b="1" dirty="0"/>
          </a:p>
        </p:txBody>
      </p:sp>
    </p:spTree>
    <p:extLst>
      <p:ext uri="{BB962C8B-B14F-4D97-AF65-F5344CB8AC3E}">
        <p14:creationId xmlns:p14="http://schemas.microsoft.com/office/powerpoint/2010/main" val="313760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75F560FF-47EE-4844-815E-B2934F7E2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/>
              <a:t>Sumário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F0CC2BD3-2499-4541-92E9-E4FE74369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dirty="0"/>
              <a:t>O que é BERT</a:t>
            </a:r>
          </a:p>
          <a:p>
            <a:r>
              <a:rPr lang="pt-BR" altLang="pt-BR" dirty="0"/>
              <a:t>Estrutura do BERT</a:t>
            </a:r>
          </a:p>
          <a:p>
            <a:r>
              <a:rPr lang="en-US" dirty="0"/>
              <a:t>En</a:t>
            </a:r>
            <a:r>
              <a:rPr lang="en-US" altLang="zh-CN" dirty="0"/>
              <a:t>trada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zh-CN" altLang="en-US" dirty="0"/>
              <a:t> </a:t>
            </a:r>
            <a:r>
              <a:rPr lang="en-US" altLang="zh-CN" dirty="0"/>
              <a:t>Saida</a:t>
            </a:r>
            <a:r>
              <a:rPr lang="zh-CN" altLang="en-US" dirty="0"/>
              <a:t> </a:t>
            </a:r>
            <a:r>
              <a:rPr lang="en-US" altLang="zh-CN" dirty="0"/>
              <a:t>do</a:t>
            </a:r>
            <a:r>
              <a:rPr lang="zh-CN" altLang="en-US" dirty="0"/>
              <a:t> </a:t>
            </a:r>
            <a:r>
              <a:rPr lang="en-US" altLang="zh-CN" dirty="0"/>
              <a:t>BERT</a:t>
            </a:r>
          </a:p>
          <a:p>
            <a:r>
              <a:rPr lang="en-US" dirty="0" err="1"/>
              <a:t>Tarefas</a:t>
            </a:r>
            <a:r>
              <a:rPr lang="en-US" dirty="0"/>
              <a:t> de Pré-</a:t>
            </a:r>
            <a:r>
              <a:rPr lang="en-US" dirty="0" err="1"/>
              <a:t>treinamento</a:t>
            </a:r>
            <a:r>
              <a:rPr lang="en-US" dirty="0"/>
              <a:t> do BERT</a:t>
            </a:r>
          </a:p>
          <a:p>
            <a:r>
              <a:rPr lang="en-US" dirty="0"/>
              <a:t>Masked language </a:t>
            </a:r>
            <a:r>
              <a:rPr lang="en-US" dirty="0" err="1"/>
              <a:t>model（MLM</a:t>
            </a:r>
            <a:r>
              <a:rPr lang="en-US" dirty="0"/>
              <a:t>）</a:t>
            </a:r>
          </a:p>
          <a:p>
            <a:r>
              <a:rPr lang="en-US" b="1" dirty="0"/>
              <a:t>O que </a:t>
            </a:r>
            <a:r>
              <a:rPr lang="en-US" b="1" dirty="0" err="1"/>
              <a:t>é</a:t>
            </a:r>
            <a:r>
              <a:rPr lang="en-US" b="1" dirty="0"/>
              <a:t> o NSP?</a:t>
            </a:r>
          </a:p>
          <a:p>
            <a:r>
              <a:rPr lang="en-US" b="1" dirty="0"/>
              <a:t>Binary </a:t>
            </a:r>
            <a:r>
              <a:rPr lang="en-US" b="1" dirty="0" err="1"/>
              <a:t>Crossentropy</a:t>
            </a:r>
            <a:br>
              <a:rPr lang="en-US" sz="2400" dirty="0"/>
            </a:br>
            <a:r>
              <a:rPr lang="en-US" i="1" dirty="0"/>
              <a:t>A </a:t>
            </a:r>
            <a:r>
              <a:rPr lang="en-US" i="1" dirty="0" err="1"/>
              <a:t>função</a:t>
            </a:r>
            <a:r>
              <a:rPr lang="en-US" i="1" dirty="0"/>
              <a:t> de </a:t>
            </a:r>
            <a:r>
              <a:rPr lang="en-US" i="1" dirty="0" err="1"/>
              <a:t>perda</a:t>
            </a:r>
            <a:r>
              <a:rPr lang="en-US" i="1" dirty="0"/>
              <a:t> para </a:t>
            </a:r>
            <a:r>
              <a:rPr lang="en-US" i="1" dirty="0" err="1"/>
              <a:t>classificação</a:t>
            </a:r>
            <a:r>
              <a:rPr lang="en-US" i="1" dirty="0"/>
              <a:t> </a:t>
            </a:r>
            <a:r>
              <a:rPr lang="en-US" i="1" dirty="0" err="1"/>
              <a:t>binária</a:t>
            </a:r>
            <a:endParaRPr lang="pt-BR" altLang="pt-BR" sz="2400" dirty="0"/>
          </a:p>
          <a:p>
            <a:endParaRPr lang="pt-BR" altLang="pt-BR" sz="2400" dirty="0"/>
          </a:p>
          <a:p>
            <a:endParaRPr lang="pt-BR" altLang="pt-B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  <p:bldP spid="142339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19E20B1-4834-1C72-A08F-EF050CEF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BDE140E-218F-D84C-FBBF-38059B31E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altLang="pt-BR" dirty="0"/>
              <a:t>O que é BERT</a:t>
            </a:r>
            <a:endParaRPr lang="pt-BR" dirty="0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CE86CF6B-D080-08DA-FDB3-988E4004F9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altLang="pt-BR" sz="2400" dirty="0"/>
              <a:t>BERT, abreviação de </a:t>
            </a:r>
            <a:r>
              <a:rPr lang="pt-BR" altLang="pt-BR" sz="2400" dirty="0" err="1"/>
              <a:t>Bidirectional</a:t>
            </a:r>
            <a:r>
              <a:rPr lang="pt-BR" altLang="pt-BR" sz="2400" dirty="0"/>
              <a:t> </a:t>
            </a:r>
            <a:r>
              <a:rPr lang="pt-BR" altLang="pt-BR" sz="2400" dirty="0" err="1"/>
              <a:t>Encoder</a:t>
            </a:r>
            <a:r>
              <a:rPr lang="pt-BR" altLang="pt-BR" sz="2400" dirty="0"/>
              <a:t> </a:t>
            </a:r>
            <a:r>
              <a:rPr lang="pt-BR" altLang="pt-BR" sz="2400" dirty="0" err="1"/>
              <a:t>Representation</a:t>
            </a:r>
            <a:r>
              <a:rPr lang="pt-BR" altLang="pt-BR" sz="2400" dirty="0"/>
              <a:t> </a:t>
            </a:r>
            <a:r>
              <a:rPr lang="pt-BR" altLang="pt-BR" sz="2400" dirty="0" err="1"/>
              <a:t>from</a:t>
            </a:r>
            <a:r>
              <a:rPr lang="pt-BR" altLang="pt-BR" sz="2400" dirty="0"/>
              <a:t> Transformers (Representação Bidirecional de Codificadores de Transformadores), é um modelo de representação de linguagem </a:t>
            </a:r>
            <a:r>
              <a:rPr lang="pt-BR" altLang="pt-BR" sz="2400" dirty="0" err="1"/>
              <a:t>pré</a:t>
            </a:r>
            <a:r>
              <a:rPr lang="pt-BR" altLang="pt-BR" sz="2400" dirty="0"/>
              <a:t>-treinado. Ele se diferencia dos modelos de linguagem unidirecionais tradicionais ou da concatenação superficial de dois modelos de linguagem unidirecionais para o pré-treinamento. Em vez disso, emprega um novo modelo de linguagem mascarada (MLM) para gerar representações de linguagem bidirecionais e profundas. O artigo sobre o BERT, após sua publicação, destacou resultados de última geração em 11 tarefas de PNL (Processamento de Linguagem Natural), uma conquista verdadeiramente impressionante.</a:t>
            </a:r>
          </a:p>
          <a:p>
            <a:endParaRPr lang="pt-BR" altLang="pt-BR" sz="2400" dirty="0"/>
          </a:p>
          <a:p>
            <a:endParaRPr lang="pt-BR" alt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05610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469AD3B-9966-CF92-E3CF-77690776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A34A1A7-1C31-48FF-FDCB-9B8BE2244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altLang="pt-BR" dirty="0"/>
              <a:t>BERT </a:t>
            </a:r>
            <a:r>
              <a:rPr lang="pt-BR" altLang="pt-BR" dirty="0" err="1"/>
              <a:t>paper</a:t>
            </a:r>
            <a:endParaRPr lang="pt-BR" dirty="0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E2A412E9-499A-A298-2AF1-550CEA6A645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1886" y="1690688"/>
            <a:ext cx="5181600" cy="4351338"/>
          </a:xfrm>
        </p:spPr>
        <p:txBody>
          <a:bodyPr>
            <a:normAutofit fontScale="92500" lnSpcReduction="20000"/>
          </a:bodyPr>
          <a:lstStyle/>
          <a:p>
            <a:endParaRPr lang="pt-BR" altLang="pt-BR" dirty="0"/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Devlin, Jacob, Ming-Wei Chang, Kenton Lee, and Kristina Toutanova. "Bert: Pre-training of deep bidirectional transformers for language understanding." In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2019 conference of the North American chapter of the association for computational linguistics: human language technologies, volume 1 (long and short papers)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pp. 4171-4186. 2019.</a:t>
            </a:r>
            <a:endParaRPr lang="pt-BR" altLang="pt-BR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051403-7D72-1672-C170-29C5136DE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486" y="322118"/>
            <a:ext cx="6446344" cy="52050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1897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3E6F5EA-7B4E-1386-1E42-F5B36A907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102755D9-AE8A-4180-F025-94EA591F6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altLang="pt-BR" dirty="0"/>
              <a:t>Vantagens principais</a:t>
            </a:r>
            <a:endParaRPr lang="pt-BR" dirty="0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F8554E96-1FF3-FBE5-94F4-0EF065CD8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altLang="pt-BR" sz="2400" dirty="0"/>
              <a:t>Este modelo apresenta as seguintes vantagens principais:</a:t>
            </a:r>
          </a:p>
          <a:p>
            <a:endParaRPr lang="pt-BR" altLang="pt-BR" sz="2400" dirty="0"/>
          </a:p>
          <a:p>
            <a:r>
              <a:rPr lang="pt-BR" altLang="pt-BR" sz="2400" dirty="0"/>
              <a:t>1) Utiliza o modelo de linguagem multinível (MLM) para </a:t>
            </a:r>
            <a:r>
              <a:rPr lang="pt-BR" altLang="pt-BR" sz="2400" dirty="0" err="1"/>
              <a:t>pré</a:t>
            </a:r>
            <a:r>
              <a:rPr lang="pt-BR" altLang="pt-BR" sz="2400" dirty="0"/>
              <a:t>-treinar Transformers bidirecionais e gerar representações linguísticas bidirecionais profundas.</a:t>
            </a:r>
          </a:p>
          <a:p>
            <a:endParaRPr lang="pt-BR" altLang="pt-BR" sz="2400" dirty="0"/>
          </a:p>
          <a:p>
            <a:r>
              <a:rPr lang="pt-BR" altLang="pt-BR" sz="2400" dirty="0"/>
              <a:t>2) Após o pré-treinamento, basta adicionar uma camada de saída para o ajuste fino, alcançando desempenho de última geração em uma ampla variedade de tarefas subsequentes. Nenhuma modificação estrutural específica da tarefa é necessária no BERT durante esse processo.</a:t>
            </a:r>
          </a:p>
          <a:p>
            <a:endParaRPr lang="pt-BR" altLang="pt-BR" sz="2400" dirty="0"/>
          </a:p>
          <a:p>
            <a:r>
              <a:rPr lang="pt-BR" altLang="pt-BR" sz="2400" dirty="0"/>
              <a:t>Então, como o BERT é implementado?</a:t>
            </a:r>
          </a:p>
          <a:p>
            <a:endParaRPr lang="pt-BR" altLang="pt-BR" sz="2000" b="1" dirty="0"/>
          </a:p>
        </p:txBody>
      </p:sp>
    </p:spTree>
    <p:extLst>
      <p:ext uri="{BB962C8B-B14F-4D97-AF65-F5344CB8AC3E}">
        <p14:creationId xmlns:p14="http://schemas.microsoft.com/office/powerpoint/2010/main" val="143416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EF350C8-53B9-22BB-B064-A315165D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92F10B76-342C-5BD0-F6BC-506D76AA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altLang="pt-BR" dirty="0"/>
              <a:t>Estrutura do BERT: MLM</a:t>
            </a:r>
            <a:endParaRPr lang="pt-BR" dirty="0"/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8FF5B79F-5BC5-29B4-4FDE-89B6F8B3E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pt-BR" altLang="pt-BR" sz="2400" dirty="0"/>
              <a:t>Os modelos </a:t>
            </a:r>
            <a:r>
              <a:rPr lang="pt-BR" altLang="pt-BR" sz="2400" dirty="0" err="1"/>
              <a:t>pré</a:t>
            </a:r>
            <a:r>
              <a:rPr lang="pt-BR" altLang="pt-BR" sz="2400" dirty="0"/>
              <a:t>-treinados anteriores eram limitados por modelos de linguagem unidirecionais (da esquerda para a direita ou da direita para a esquerda), restringindo assim suas capacidades de representação e limitando-os à aquisição de informações contextuais unidirecionais. </a:t>
            </a:r>
          </a:p>
          <a:p>
            <a:r>
              <a:rPr lang="pt-BR" altLang="pt-BR" sz="2400" dirty="0"/>
              <a:t>O BERT, no entanto, utiliza o Modelo de Linguagem Multidirecional (MLM) para o pré-treinamento e emprega componentes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 bidirecionais profundos (um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 unidirecional é geralmente chamado de decodificador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, onde cada token presta atenção apenas ao token atualmente à esquerda; um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 bidirecional é chamado de codificador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, onde cada token presta atenção a todos os tokens). Isso resulta em uma representação de linguagem bidirecional profunda que integra informações contextuais da esquerda e da direita. Para uma explicação detalhada sobre Transformers, consulte "</a:t>
            </a:r>
            <a:r>
              <a:rPr lang="pt-BR" altLang="pt-BR" sz="2400" dirty="0" err="1"/>
              <a:t>Attention</a:t>
            </a:r>
            <a:r>
              <a:rPr lang="pt-BR" altLang="pt-BR" sz="2400" dirty="0"/>
              <a:t> </a:t>
            </a:r>
            <a:r>
              <a:rPr lang="pt-BR" altLang="pt-BR" sz="2400" dirty="0" err="1"/>
              <a:t>Is</a:t>
            </a:r>
            <a:r>
              <a:rPr lang="pt-BR" altLang="pt-BR" sz="2400" dirty="0"/>
              <a:t> </a:t>
            </a:r>
            <a:r>
              <a:rPr lang="pt-BR" altLang="pt-BR" sz="2400" dirty="0" err="1"/>
              <a:t>All</a:t>
            </a:r>
            <a:r>
              <a:rPr lang="pt-BR" altLang="pt-BR" sz="2400" dirty="0"/>
              <a:t> </a:t>
            </a:r>
            <a:r>
              <a:rPr lang="pt-BR" altLang="pt-BR" sz="2400" dirty="0" err="1"/>
              <a:t>You</a:t>
            </a:r>
            <a:r>
              <a:rPr lang="pt-BR" altLang="pt-BR" sz="2400" dirty="0"/>
              <a:t> </a:t>
            </a:r>
            <a:r>
              <a:rPr lang="pt-BR" altLang="pt-BR" sz="2400" dirty="0" err="1"/>
              <a:t>Need</a:t>
            </a:r>
            <a:r>
              <a:rPr lang="pt-BR" altLang="pt-BR" sz="2400" dirty="0"/>
              <a:t>" ou "The Illustrated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" (altamente recomendado!).</a:t>
            </a:r>
          </a:p>
          <a:p>
            <a:endParaRPr lang="pt-BR" altLang="pt-BR" sz="2400" dirty="0"/>
          </a:p>
        </p:txBody>
      </p:sp>
    </p:spTree>
    <p:extLst>
      <p:ext uri="{BB962C8B-B14F-4D97-AF65-F5344CB8AC3E}">
        <p14:creationId xmlns:p14="http://schemas.microsoft.com/office/powerpoint/2010/main" val="252394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045EEC-813E-3BFE-1131-8065E3F3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929DCBB-9B2C-8216-DF6A-F5BBCC80B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pt-BR" altLang="pt-BR" sz="3200" dirty="0"/>
              <a:t>Estrutura do BERT: Uma vez que a estrutura detalhada do </a:t>
            </a:r>
            <a:r>
              <a:rPr lang="pt-BR" altLang="pt-BR" sz="3200" dirty="0" err="1"/>
              <a:t>Transformer</a:t>
            </a:r>
            <a:r>
              <a:rPr lang="pt-BR" altLang="pt-BR" sz="3200" dirty="0"/>
              <a:t> é ocultada, podemos representá-lo como uma caixa preta com apenas entrada e saída:</a:t>
            </a:r>
            <a:endParaRPr lang="pt-BR" sz="3200" dirty="0"/>
          </a:p>
        </p:txBody>
      </p:sp>
      <p:pic>
        <p:nvPicPr>
          <p:cNvPr id="1026" name="Picture 2" descr="A diagram of a transformer&#10;&#10;AI-generated content may be incorrect.">
            <a:extLst>
              <a:ext uri="{FF2B5EF4-FFF2-40B4-BE49-F238E27FC236}">
                <a16:creationId xmlns:a16="http://schemas.microsoft.com/office/drawing/2014/main" id="{584F7376-3C06-0F20-4845-FA8CA9955E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280" y="1825625"/>
            <a:ext cx="557144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430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9C4580-D6E8-CFE2-44E9-A0EE6F32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5EF08B96-43F3-810B-AEA9-0F1F90975D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altLang="pt-BR" sz="2800" dirty="0"/>
              <a:t>Além disso, as estruturas </a:t>
            </a:r>
            <a:r>
              <a:rPr lang="pt-BR" altLang="pt-BR" sz="2800" dirty="0" err="1"/>
              <a:t>Transformer</a:t>
            </a:r>
            <a:r>
              <a:rPr lang="pt-BR" altLang="pt-BR" sz="2800" dirty="0"/>
              <a:t> podem ser empilhadas para formar uma rede neural mais profunda (isso também pode ser entendido como empilhamento de codificadores </a:t>
            </a:r>
            <a:r>
              <a:rPr lang="pt-BR" altLang="pt-BR" sz="2800" dirty="0" err="1"/>
              <a:t>Transformer</a:t>
            </a:r>
            <a:r>
              <a:rPr lang="pt-BR" altLang="pt-BR" sz="2800" dirty="0"/>
              <a:t>):</a:t>
            </a:r>
            <a:endParaRPr lang="pt-BR" sz="2800" dirty="0"/>
          </a:p>
        </p:txBody>
      </p:sp>
      <p:pic>
        <p:nvPicPr>
          <p:cNvPr id="3074" name="Picture 2" descr="A diagram of a transformer&#10;&#10;AI-generated content may be incorrect.">
            <a:extLst>
              <a:ext uri="{FF2B5EF4-FFF2-40B4-BE49-F238E27FC236}">
                <a16:creationId xmlns:a16="http://schemas.microsoft.com/office/drawing/2014/main" id="{6BA095C0-75AE-DF8E-DFAA-18BB92EEB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95634" y="1825625"/>
            <a:ext cx="3600732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90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ACE8C0-E4FA-AA41-9EC8-8A4CE70F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1F5C9D6C-84D4-39F1-8A21-FED1F576BC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altLang="pt-BR" sz="2800" dirty="0"/>
              <a:t>Finalmente, após o empilhamento de múltiplas camadas de estruturas </a:t>
            </a:r>
            <a:r>
              <a:rPr lang="pt-BR" altLang="pt-BR" sz="2800" dirty="0" err="1"/>
              <a:t>Transformer</a:t>
            </a:r>
            <a:r>
              <a:rPr lang="pt-BR" altLang="pt-BR" sz="2800" dirty="0"/>
              <a:t>, a estrutura principal do BERT é formada:</a:t>
            </a:r>
            <a:endParaRPr lang="pt-BR" sz="2800" dirty="0"/>
          </a:p>
        </p:txBody>
      </p:sp>
      <p:pic>
        <p:nvPicPr>
          <p:cNvPr id="5122" name="Picture 2" descr="A diagram of a masking process&#10;&#10;AI-generated content may be incorrect.">
            <a:extLst>
              <a:ext uri="{FF2B5EF4-FFF2-40B4-BE49-F238E27FC236}">
                <a16:creationId xmlns:a16="http://schemas.microsoft.com/office/drawing/2014/main" id="{F8D43531-A8B1-4463-D330-1B8DBAEBB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43896" y="1825625"/>
            <a:ext cx="5104208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00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5EBCFA3-ADC4-9EB3-0ACB-9C1BEE08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18BD840F-8D49-0C5C-91E3-2ECC9D6A2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286" y="365125"/>
            <a:ext cx="11190514" cy="1325563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pt-BR" altLang="pt-BR" sz="2400" dirty="0"/>
              <a:t>Finalmente, após o empilhamento de múltiplas camadas de estruturas </a:t>
            </a:r>
            <a:r>
              <a:rPr lang="pt-BR" altLang="pt-BR" sz="2400" dirty="0" err="1"/>
              <a:t>Transformer</a:t>
            </a:r>
            <a:r>
              <a:rPr lang="pt-BR" altLang="pt-BR" sz="2400" dirty="0"/>
              <a:t>, a estrutura principal do BERT é formada:</a:t>
            </a:r>
            <a:br>
              <a:rPr lang="pt-BR" altLang="pt-BR" sz="2400" dirty="0"/>
            </a:br>
            <a:r>
              <a:rPr lang="pt-BR" altLang="pt-BR" sz="2400" dirty="0"/>
              <a:t>A estrutura do BERT pode variar ligeiramente para diferentes tarefas subsequentes, portanto, apresentaremos a estrutura do modelo apenas na fase de pré-treinamento.</a:t>
            </a:r>
            <a:endParaRPr lang="pt-BR" sz="2400" dirty="0"/>
          </a:p>
        </p:txBody>
      </p:sp>
      <p:pic>
        <p:nvPicPr>
          <p:cNvPr id="13314" name="Picture 2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9B01161-3F94-D2FD-3879-60BBF60B0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9625" y="1825625"/>
            <a:ext cx="9112749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08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A806F4-5F91-52E2-A26B-371C3E2F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50EF648-6313-9441-44FF-1F9DD8CC1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857" y="365125"/>
            <a:ext cx="11244943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sz="2800" dirty="0"/>
              <a:t>1.1 Entrada BERT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2AF495-79E3-B922-AE3D-4B2ED21B1645}"/>
              </a:ext>
            </a:extLst>
          </p:cNvPr>
          <p:cNvSpPr txBox="1"/>
          <p:nvPr/>
        </p:nvSpPr>
        <p:spPr>
          <a:xfrm>
            <a:off x="544284" y="1818144"/>
            <a:ext cx="990600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2000" dirty="0"/>
              <a:t>A entrada do BERT consiste na representação correspondente a cada token (os blocos rosa no diagrama representam os tokens e os blocos amarelos representam as representações correspondentes aos tokens), e o dicionário de palavras é construído usando o algoritmo WordPiece. Para realizar tarefas de classificação específicas, além dos tokens de palavras, os autores inserem um token de classificação específico ([CLS]) no início de cada sequência de entrada. A saída da última camada do Transformer correspondente a esse token de classificação é usada para agregar as informações de representação de toda a sequência.</a:t>
            </a:r>
          </a:p>
          <a:p>
            <a:endParaRPr lang="en-BR" sz="2000" dirty="0"/>
          </a:p>
          <a:p>
            <a:r>
              <a:rPr lang="en-BR" sz="2000" dirty="0"/>
              <a:t>Como o BERT é um modelo pré-treinado, ele deve ser adaptável a uma ampla variedade de tarefas de linguagem natural. Portanto, a sequência de entrada deve ser capaz de conter uma única frase (para classificação de sentimento de texto e rotulagem de sequência) ou duas ou mais frases (para sumarização de texto, inferência de linguagem natural e resposta a perguntas).</a:t>
            </a:r>
          </a:p>
        </p:txBody>
      </p:sp>
    </p:spTree>
    <p:extLst>
      <p:ext uri="{BB962C8B-B14F-4D97-AF65-F5344CB8AC3E}">
        <p14:creationId xmlns:p14="http://schemas.microsoft.com/office/powerpoint/2010/main" val="197140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A662681-E794-AC3F-DEE8-4947E8D97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7CD9C-2829-9067-3F88-074BFC1B6BD2}"/>
              </a:ext>
            </a:extLst>
          </p:cNvPr>
          <p:cNvSpPr txBox="1"/>
          <p:nvPr/>
        </p:nvSpPr>
        <p:spPr>
          <a:xfrm>
            <a:off x="261257" y="365125"/>
            <a:ext cx="11702143" cy="25631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000" kern="1200" dirty="0">
                <a:latin typeface="+mj-lt"/>
                <a:ea typeface="+mj-ea"/>
                <a:cs typeface="+mj-cs"/>
              </a:rPr>
              <a:t>Como o modelo distingue qual intervalo pertence à frase A e qual pertence à frase </a:t>
            </a:r>
            <a:r>
              <a:rPr lang="pt-BR" sz="2000" kern="1200" dirty="0" err="1">
                <a:latin typeface="+mj-lt"/>
                <a:ea typeface="+mj-ea"/>
                <a:cs typeface="+mj-cs"/>
              </a:rPr>
              <a:t>B</a:t>
            </a:r>
            <a:r>
              <a:rPr lang="pt-BR" sz="2000" kern="1200" dirty="0">
                <a:latin typeface="+mj-lt"/>
                <a:ea typeface="+mj-ea"/>
                <a:cs typeface="+mj-cs"/>
              </a:rPr>
              <a:t>? O BERT utiliza dois métodos para resolver isso: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000" kern="1200" dirty="0">
                <a:latin typeface="+mj-lt"/>
                <a:ea typeface="+mj-ea"/>
                <a:cs typeface="+mj-cs"/>
              </a:rPr>
              <a:t>1) Inserindo um token de segmentação ([SEP]) após cada frase na sequência de tokens para separar os tokens das diferentes frases.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000" kern="1200" dirty="0">
                <a:latin typeface="+mj-lt"/>
                <a:ea typeface="+mj-ea"/>
                <a:cs typeface="+mj-cs"/>
              </a:rPr>
              <a:t>2) Adicionando um </a:t>
            </a:r>
            <a:r>
              <a:rPr lang="pt-BR" sz="2000" kern="1200" dirty="0" err="1">
                <a:latin typeface="+mj-lt"/>
                <a:ea typeface="+mj-ea"/>
                <a:cs typeface="+mj-cs"/>
              </a:rPr>
              <a:t>embedding</a:t>
            </a:r>
            <a:r>
              <a:rPr lang="pt-BR" sz="2000" kern="1200" dirty="0">
                <a:latin typeface="+mj-lt"/>
                <a:ea typeface="+mj-ea"/>
                <a:cs typeface="+mj-cs"/>
              </a:rPr>
              <a:t> de segmentação treinável a cada representação de token para indicar se ele pertence à frase A ou à frase B.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000" kern="1200" dirty="0">
                <a:latin typeface="+mj-lt"/>
                <a:ea typeface="+mj-ea"/>
                <a:cs typeface="+mj-cs"/>
              </a:rPr>
              <a:t>Portanto, a sequência final de tokens de entrada do modelo é mostrada na figura a seguir (se a sequência de entrada contiver apenas uma frase, não haverá [SEP] nem tokens subsequentes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):</a:t>
            </a:r>
          </a:p>
        </p:txBody>
      </p:sp>
      <p:pic>
        <p:nvPicPr>
          <p:cNvPr id="7170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2CBECC-A594-D361-1F67-FC189D679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3443294"/>
            <a:ext cx="10515600" cy="231343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4491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5D884F-56CB-8BA2-0109-E3884448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2CB0B-BC7E-6CAA-A786-AC3B1CF8018C}"/>
              </a:ext>
            </a:extLst>
          </p:cNvPr>
          <p:cNvSpPr txBox="1"/>
          <p:nvPr/>
        </p:nvSpPr>
        <p:spPr>
          <a:xfrm>
            <a:off x="315686" y="365125"/>
            <a:ext cx="110381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pt-BR" sz="2400" kern="1200" dirty="0">
                <a:latin typeface="+mj-lt"/>
                <a:ea typeface="+mj-ea"/>
                <a:cs typeface="+mj-cs"/>
              </a:rPr>
              <a:t>A entrada para o BERT é a representação correspondente a cada token. Na verdade, essa representação consiste em três partes: o token correspondente, o segmento e os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embeddings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de posição (para uma explicação detalhada dos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embeddings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de posição, consulte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Attention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Is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All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You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Need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 ou The Illustrated </a:t>
            </a:r>
            <a:r>
              <a:rPr lang="pt-BR" sz="2400" kern="1200" dirty="0" err="1">
                <a:latin typeface="+mj-lt"/>
                <a:ea typeface="+mj-ea"/>
                <a:cs typeface="+mj-cs"/>
              </a:rPr>
              <a:t>Transformer</a:t>
            </a:r>
            <a:r>
              <a:rPr lang="pt-BR" sz="2400" kern="1200" dirty="0">
                <a:latin typeface="+mj-lt"/>
                <a:ea typeface="+mj-ea"/>
                <a:cs typeface="+mj-cs"/>
              </a:rPr>
              <a:t>), conforme mostrado na figura abaixo:</a:t>
            </a:r>
          </a:p>
        </p:txBody>
      </p:sp>
      <p:pic>
        <p:nvPicPr>
          <p:cNvPr id="9218" name="Picture 2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97301F29-B514-E4C0-8CC5-2D234FA4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34" r="3310" b="1"/>
          <a:stretch>
            <a:fillRect/>
          </a:stretch>
        </p:blipFill>
        <p:spPr bwMode="auto">
          <a:xfrm>
            <a:off x="838200" y="1825625"/>
            <a:ext cx="1051560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907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B919AB-11CC-0BC8-BA85-8CBBCF2B6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46C1920-806B-D5AC-611C-91C208479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857" y="365125"/>
            <a:ext cx="11244943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sz="2800" dirty="0"/>
              <a:t>1.2 Saída do BERT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D734B-5352-1FED-21CC-1E3D9F951D9A}"/>
              </a:ext>
            </a:extLst>
          </p:cNvPr>
          <p:cNvSpPr txBox="1"/>
          <p:nvPr/>
        </p:nvSpPr>
        <p:spPr>
          <a:xfrm>
            <a:off x="544284" y="1252086"/>
            <a:ext cx="99060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Após</a:t>
            </a:r>
            <a:r>
              <a:rPr lang="en-US" sz="2000" dirty="0"/>
              <a:t> a </a:t>
            </a:r>
            <a:r>
              <a:rPr lang="en-US" sz="2000" dirty="0" err="1"/>
              <a:t>apresentação</a:t>
            </a:r>
            <a:r>
              <a:rPr lang="en-US" sz="2000" dirty="0"/>
              <a:t> das entradas do BERT, as </a:t>
            </a:r>
            <a:r>
              <a:rPr lang="en-US" sz="2000" dirty="0" err="1"/>
              <a:t>saídas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essencialmente</a:t>
            </a:r>
            <a:r>
              <a:rPr lang="en-US" sz="2000" dirty="0"/>
              <a:t> </a:t>
            </a:r>
            <a:r>
              <a:rPr lang="en-US" sz="2000" dirty="0" err="1"/>
              <a:t>autoexplicativas</a:t>
            </a:r>
            <a:r>
              <a:rPr lang="en-US" sz="2000" dirty="0"/>
              <a:t>, visto que a </a:t>
            </a:r>
            <a:r>
              <a:rPr lang="en-US" sz="2000" dirty="0" err="1"/>
              <a:t>característica</a:t>
            </a:r>
            <a:r>
              <a:rPr lang="en-US" sz="2000" dirty="0"/>
              <a:t> do Transformer </a:t>
            </a:r>
            <a:r>
              <a:rPr lang="en-US" sz="2000" dirty="0" err="1"/>
              <a:t>é</a:t>
            </a:r>
            <a:r>
              <a:rPr lang="en-US" sz="2000" dirty="0"/>
              <a:t> </a:t>
            </a:r>
            <a:r>
              <a:rPr lang="en-US" sz="2000" dirty="0" err="1"/>
              <a:t>ter</a:t>
            </a:r>
            <a:r>
              <a:rPr lang="en-US" sz="2000" dirty="0"/>
              <a:t> </a:t>
            </a:r>
            <a:r>
              <a:rPr lang="en-US" sz="2000" dirty="0" err="1"/>
              <a:t>tantas</a:t>
            </a:r>
            <a:r>
              <a:rPr lang="en-US" sz="2000" dirty="0"/>
              <a:t> </a:t>
            </a:r>
            <a:r>
              <a:rPr lang="en-US" sz="2000" dirty="0" err="1"/>
              <a:t>saídas</a:t>
            </a:r>
            <a:r>
              <a:rPr lang="en-US" sz="2000" dirty="0"/>
              <a:t> </a:t>
            </a:r>
            <a:r>
              <a:rPr lang="en-US" sz="2000" dirty="0" err="1"/>
              <a:t>quantas</a:t>
            </a:r>
            <a:r>
              <a:rPr lang="en-US" sz="2000" dirty="0"/>
              <a:t> entradas,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mostrado</a:t>
            </a:r>
            <a:r>
              <a:rPr lang="en-US" sz="2000" dirty="0"/>
              <a:t> no </a:t>
            </a:r>
            <a:r>
              <a:rPr lang="en-US" sz="2000" dirty="0" err="1"/>
              <a:t>diagrama</a:t>
            </a:r>
            <a:r>
              <a:rPr lang="en-US" sz="2000" dirty="0"/>
              <a:t> a </a:t>
            </a:r>
            <a:r>
              <a:rPr lang="en-US" sz="2000" dirty="0" err="1"/>
              <a:t>seguir</a:t>
            </a:r>
            <a:r>
              <a:rPr lang="en-US" sz="2000" dirty="0"/>
              <a:t>:</a:t>
            </a:r>
            <a:endParaRPr lang="en-BR" sz="2000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E285EE83-5D19-9FBF-8818-74DB41ADA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9049"/>
            <a:ext cx="12192000" cy="200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06DE9-EF40-D416-EECF-21ACD8D6E073}"/>
              </a:ext>
            </a:extLst>
          </p:cNvPr>
          <p:cNvSpPr txBox="1"/>
          <p:nvPr/>
        </p:nvSpPr>
        <p:spPr>
          <a:xfrm>
            <a:off x="293914" y="4184551"/>
            <a:ext cx="1160417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dirty="0"/>
              <a:t>C representa a saída do último Transformer correspondente ao token de classificação ([CLS]),</a:t>
            </a:r>
          </a:p>
          <a:p>
            <a:endParaRPr lang="en-BR" dirty="0"/>
          </a:p>
          <a:p>
            <a:r>
              <a:rPr lang="en-BR" dirty="0"/>
              <a:t>e representa a saída do último Transformer correspondente a outros tokens. Para algumas tarefas em nível de token (por exemplo, rotulagem de sequência e resposta a perguntas),</a:t>
            </a:r>
          </a:p>
          <a:p>
            <a:endParaRPr lang="en-BR" dirty="0"/>
          </a:p>
          <a:p>
            <a:r>
              <a:rPr lang="en-BR" dirty="0"/>
              <a:t>C é inserido em uma camada de saída adicional para predição. Para algumas tarefas em nível de sentença (por exemplo, inferência de linguagem natural e classificação de sentimentos), C é inserido em uma camada de saída adicional. Isso explica por que um token de classificação específico é inserido antes de cada sequência de tokens.</a:t>
            </a:r>
          </a:p>
        </p:txBody>
      </p:sp>
    </p:spTree>
    <p:extLst>
      <p:ext uri="{BB962C8B-B14F-4D97-AF65-F5344CB8AC3E}">
        <p14:creationId xmlns:p14="http://schemas.microsoft.com/office/powerpoint/2010/main" val="236192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AC6499-CDC3-5805-2128-025F2A4B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9FC85FA9-FC17-B18F-ACA8-7796CA643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8857" y="365125"/>
            <a:ext cx="11244943" cy="1325563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pt-BR" sz="2800" dirty="0"/>
              <a:t>2</a:t>
            </a:r>
            <a:r>
              <a:rPr lang="en-US" altLang="zh-CN" sz="2800" dirty="0"/>
              <a:t>.</a:t>
            </a:r>
            <a:r>
              <a:rPr lang="pt-BR" sz="2800" dirty="0"/>
              <a:t> Tarefas de Pré-treinamento do BERT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A9F29-DCB3-6188-335A-A661E8A9D9A7}"/>
              </a:ext>
            </a:extLst>
          </p:cNvPr>
          <p:cNvSpPr txBox="1"/>
          <p:nvPr/>
        </p:nvSpPr>
        <p:spPr>
          <a:xfrm>
            <a:off x="283028" y="1515186"/>
            <a:ext cx="10896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2000" dirty="0"/>
              <a:t>O conceito de pré-treinamento já está bem estabelecido e é amplamente utilizado em Visão Computacional (VC). A tarefa de pré-treinamento tipicamente usada em VC é a classificação de imagens do ImageNet. Para obter sucesso na classificação de imagens, é necessário extrair boas características da imagem, e o conjunto de dados ImageNet, com sua grande escala e alta qualidade, frequentemente produz excelentes resultados.</a:t>
            </a:r>
          </a:p>
          <a:p>
            <a:endParaRPr lang="en-BR" sz="2000" dirty="0"/>
          </a:p>
          <a:p>
            <a:r>
              <a:rPr lang="en-BR" sz="2000" dirty="0"/>
              <a:t>Embora a área de PNL careça de dados rotulados manualmente e de alta qualidade como o ImageNet, a natureza autossupervisionada de dados textuais em larga escala pode ser aproveitada para construir tarefas de pré-treinamento. Portanto, o BERT construiu duas tarefas de pré-treinamento: Modelo de Linguagem Mascarada e Predição da Próxima Sentença.</a:t>
            </a:r>
          </a:p>
        </p:txBody>
      </p:sp>
    </p:spTree>
    <p:extLst>
      <p:ext uri="{BB962C8B-B14F-4D97-AF65-F5344CB8AC3E}">
        <p14:creationId xmlns:p14="http://schemas.microsoft.com/office/powerpoint/2010/main" val="170170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15DE0F-179C-41A7-E73A-5464511A8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FB02B974-E641-ECBB-F6FD-C7327F158A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pt-BR" kern="1200">
                <a:latin typeface="+mj-lt"/>
                <a:ea typeface="+mj-ea"/>
                <a:cs typeface="+mj-cs"/>
              </a:rPr>
              <a:t>2.1 Masked Language Model（MLM）</a:t>
            </a:r>
            <a:br>
              <a:rPr lang="pt-BR" kern="1200">
                <a:latin typeface="+mj-lt"/>
                <a:ea typeface="+mj-ea"/>
                <a:cs typeface="+mj-cs"/>
              </a:rPr>
            </a:br>
            <a:endParaRPr lang="pt-BR" kern="120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44CA7-2BBC-A4D1-AC97-E4A09FB3FD29}"/>
              </a:ext>
            </a:extLst>
          </p:cNvPr>
          <p:cNvSpPr txBox="1"/>
          <p:nvPr/>
        </p:nvSpPr>
        <p:spPr>
          <a:xfrm>
            <a:off x="166255" y="1128937"/>
            <a:ext cx="6822374" cy="50480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2400" dirty="0"/>
              <a:t>O MLM é o motivo pelo qual o BERT não se limita a modelos de linguagem unidirecionais. Simplificando, ele substitui aleatoriamente cada token na sequência de treinamento por um token de máscara ([MASK]) com 15% de probabilidade e, em seguida, prevê a palavra original na posição [MASK].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2400" dirty="0"/>
              <a:t>No entanto, como [MASK] não aparece na etapa de ajuste fino das tarefas subsequentes, ocorre uma incompatibilidade entre as etapas de pré-treinamento e ajuste fino (isso é facilmente explicado pelo fato de que o objetivo do pré-treinamento é tornar a representação da linguagem gerada sensível a [MASK], mas insensível a outros tokens). Portanto, o BERT usa a seguinte estratégia para resolver esse problema: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54367FED-0B0E-502A-17E0-EB789C3A1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11640" y="1825625"/>
            <a:ext cx="5104208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5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6634D90-96EC-075A-F0A7-4B4DF5A42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C551569F-694D-7800-ADDE-60F5469C5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b="1" dirty="0" err="1"/>
              <a:t>Problema</a:t>
            </a:r>
            <a:r>
              <a:rPr lang="en-US" b="1" dirty="0"/>
              <a:t> dos </a:t>
            </a:r>
            <a:r>
              <a:rPr lang="en-US" b="1" dirty="0" err="1"/>
              <a:t>Modelos</a:t>
            </a:r>
            <a:r>
              <a:rPr lang="en-US" b="1" dirty="0"/>
              <a:t> </a:t>
            </a:r>
            <a:r>
              <a:rPr lang="en-US" b="1" dirty="0" err="1"/>
              <a:t>Unidirecionais</a:t>
            </a:r>
            <a:endParaRPr lang="pt-BR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B4562-28C0-2F3C-24B1-FB916D5E55B9}"/>
              </a:ext>
            </a:extLst>
          </p:cNvPr>
          <p:cNvSpPr txBox="1"/>
          <p:nvPr/>
        </p:nvSpPr>
        <p:spPr>
          <a:xfrm>
            <a:off x="166255" y="1303113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Limitação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Modelos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Antigos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(ex: GPT)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Só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conseguem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contexto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de um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lado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esquerda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direita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aproveitam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contexto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dos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dois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lados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limita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tarefas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como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texto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Reconhecimento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entidades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Resposta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perguntas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US" sz="2400" b="1" dirty="0" err="1">
                <a:effectLst/>
              </a:rPr>
              <a:t>Solução</a:t>
            </a:r>
            <a:r>
              <a:rPr lang="en-US" sz="2400" b="1" dirty="0">
                <a:effectLst/>
              </a:rPr>
              <a:t>:</a:t>
            </a:r>
            <a:r>
              <a:rPr lang="en-US" sz="2400" dirty="0">
                <a:effectLst/>
              </a:rPr>
              <a:t> MLM </a:t>
            </a:r>
            <a:r>
              <a:rPr lang="en-US" sz="2400" dirty="0" err="1">
                <a:effectLst/>
              </a:rPr>
              <a:t>permite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ver</a:t>
            </a:r>
            <a:r>
              <a:rPr lang="en-US" sz="2400" dirty="0">
                <a:effectLst/>
              </a:rPr>
              <a:t> </a:t>
            </a:r>
            <a:r>
              <a:rPr lang="en-US" sz="2400" b="1" dirty="0" err="1">
                <a:effectLst/>
              </a:rPr>
              <a:t>palavras</a:t>
            </a:r>
            <a:r>
              <a:rPr lang="en-US" sz="2400" b="1" dirty="0">
                <a:effectLst/>
              </a:rPr>
              <a:t> à </a:t>
            </a:r>
            <a:r>
              <a:rPr lang="en-US" sz="2400" b="1" dirty="0" err="1">
                <a:effectLst/>
              </a:rPr>
              <a:t>esquerda</a:t>
            </a:r>
            <a:r>
              <a:rPr lang="en-US" sz="2400" b="1" dirty="0">
                <a:effectLst/>
              </a:rPr>
              <a:t> e à </a:t>
            </a:r>
            <a:r>
              <a:rPr lang="en-US" sz="2400" b="1" dirty="0" err="1">
                <a:effectLst/>
              </a:rPr>
              <a:t>direita</a:t>
            </a:r>
            <a:r>
              <a:rPr lang="en-US" sz="2400" dirty="0">
                <a:effectLst/>
              </a:rPr>
              <a:t> </a:t>
            </a:r>
            <a:r>
              <a:rPr lang="en-US" sz="2400" dirty="0" err="1">
                <a:effectLst/>
              </a:rPr>
              <a:t>ao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mesmo</a:t>
            </a:r>
            <a:r>
              <a:rPr lang="en-US" sz="2400" dirty="0">
                <a:effectLst/>
              </a:rPr>
              <a:t> tempo.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88902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BACE94-2B19-9A78-3913-E1B40E35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51AA215A-C1CD-DD92-43C0-B81C41AB3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 err="1"/>
              <a:t>Ideia</a:t>
            </a:r>
            <a:r>
              <a:rPr lang="en-US" b="1" dirty="0"/>
              <a:t> Principal do MLM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34CD4-B8BF-3094-DE37-54B9844D7F35}"/>
              </a:ext>
            </a:extLst>
          </p:cNvPr>
          <p:cNvSpPr txBox="1"/>
          <p:nvPr/>
        </p:nvSpPr>
        <p:spPr>
          <a:xfrm>
            <a:off x="166255" y="1303113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Como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funciona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 MLM?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Pegamos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numa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Escolhemos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15% das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aleatoriamente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Escondemos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mascaramos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)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essas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tenta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adivinhar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original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usando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contexto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dos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dois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lados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📌 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como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um "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exercício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completar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espaços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"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14424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B26C790-13F4-ED0B-1A4A-3B92573F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6FF3131-8B4D-C396-D08B-13F0F40697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b="1" dirty="0" err="1"/>
              <a:t>Exemplo</a:t>
            </a:r>
            <a:r>
              <a:rPr lang="en-US" b="1" dirty="0"/>
              <a:t> Simples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5D1DA-FE59-E195-7201-9DC609B72BC0}"/>
              </a:ext>
            </a:extLst>
          </p:cNvPr>
          <p:cNvSpPr txBox="1"/>
          <p:nvPr/>
        </p:nvSpPr>
        <p:spPr>
          <a:xfrm>
            <a:off x="166255" y="1303113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original</a:t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my dog is hairy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Depois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mascaramento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(80% dos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casos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my dog is [MASK]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Objetivo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do BERT:</a:t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Adivinhar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que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escondida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hairy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931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3AF03E8-3627-A6B4-E608-18248921C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135DCB4-AA2E-4460-A519-B6BE062F9B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kern="1200">
                <a:latin typeface="+mj-lt"/>
                <a:ea typeface="+mj-ea"/>
                <a:cs typeface="+mj-cs"/>
              </a:rPr>
              <a:t> Exemplo dos Três Casos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9CF560-4E78-893E-966D-97A32713902F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b="0" i="0">
                <a:effectLst/>
              </a:rPr>
              <a:t>Para cada palavra escolhida (15% das palavras da frase):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b="1" i="0">
                <a:effectLst/>
              </a:rPr>
              <a:t>80% das vezes</a:t>
            </a:r>
            <a:r>
              <a:rPr lang="pt-BR" sz="2800" b="0" i="0">
                <a:effectLst/>
              </a:rPr>
              <a:t> → substituir por [MASK]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b="1" i="0">
                <a:effectLst/>
              </a:rPr>
              <a:t>10% das vezes</a:t>
            </a:r>
            <a:r>
              <a:rPr lang="pt-BR" sz="2800" b="0" i="0">
                <a:effectLst/>
              </a:rPr>
              <a:t> → substituir por uma </a:t>
            </a:r>
            <a:r>
              <a:rPr lang="pt-BR" sz="2800" b="1" i="0">
                <a:effectLst/>
              </a:rPr>
              <a:t>palavra aleatória</a:t>
            </a:r>
            <a:endParaRPr lang="pt-BR" sz="2800" b="0" i="0">
              <a:effectLst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800" b="1" i="0">
                <a:effectLst/>
              </a:rPr>
              <a:t>10% das vezes</a:t>
            </a:r>
            <a:r>
              <a:rPr lang="pt-BR" sz="2800" b="0" i="0">
                <a:effectLst/>
              </a:rPr>
              <a:t> → </a:t>
            </a:r>
            <a:r>
              <a:rPr lang="pt-BR" sz="2800" b="1" i="0">
                <a:effectLst/>
              </a:rPr>
              <a:t>manter a palavra original</a:t>
            </a:r>
            <a:endParaRPr lang="pt-BR" sz="2800" b="0" i="0">
              <a:effectLst/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B05774F5-4E1F-5E5F-77E9-B0CD34DC1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9801" y="2293689"/>
            <a:ext cx="6040506" cy="2990051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513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F244FD-F9FF-52DB-F3D2-FF967C412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80C7174-049D-C2AD-77E6-DB45EF5DA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b="1" dirty="0" err="1"/>
              <a:t>Três</a:t>
            </a:r>
            <a:r>
              <a:rPr lang="en-US" b="1" dirty="0"/>
              <a:t> </a:t>
            </a:r>
            <a:r>
              <a:rPr lang="en-US" b="1" dirty="0" err="1"/>
              <a:t>Tipos</a:t>
            </a:r>
            <a:r>
              <a:rPr lang="en-US" b="1" dirty="0"/>
              <a:t> de </a:t>
            </a:r>
            <a:r>
              <a:rPr lang="en-US" b="1" dirty="0" err="1"/>
              <a:t>Substituição</a:t>
            </a:r>
            <a:r>
              <a:rPr lang="en-US" b="1" dirty="0"/>
              <a:t> (</a:t>
            </a:r>
            <a:r>
              <a:rPr lang="en-US" b="1" dirty="0" err="1"/>
              <a:t>Passo</a:t>
            </a:r>
            <a:r>
              <a:rPr lang="en-US" b="1" dirty="0"/>
              <a:t> a </a:t>
            </a:r>
            <a:r>
              <a:rPr lang="en-US" b="1" dirty="0" err="1"/>
              <a:t>Passo</a:t>
            </a:r>
            <a:r>
              <a:rPr lang="en-US" b="1" dirty="0"/>
              <a:t>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39475DF-2F0C-7957-A041-8CFBC9735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451798"/>
              </p:ext>
            </p:extLst>
          </p:nvPr>
        </p:nvGraphicFramePr>
        <p:xfrm>
          <a:off x="1425981" y="2512593"/>
          <a:ext cx="9340039" cy="38641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6619">
                  <a:extLst>
                    <a:ext uri="{9D8B030D-6E8A-4147-A177-3AD203B41FA5}">
                      <a16:colId xmlns:a16="http://schemas.microsoft.com/office/drawing/2014/main" val="392111909"/>
                    </a:ext>
                  </a:extLst>
                </a:gridCol>
                <a:gridCol w="3949364">
                  <a:extLst>
                    <a:ext uri="{9D8B030D-6E8A-4147-A177-3AD203B41FA5}">
                      <a16:colId xmlns:a16="http://schemas.microsoft.com/office/drawing/2014/main" val="2756876978"/>
                    </a:ext>
                  </a:extLst>
                </a:gridCol>
                <a:gridCol w="3874056">
                  <a:extLst>
                    <a:ext uri="{9D8B030D-6E8A-4147-A177-3AD203B41FA5}">
                      <a16:colId xmlns:a16="http://schemas.microsoft.com/office/drawing/2014/main" val="3657997138"/>
                    </a:ext>
                  </a:extLst>
                </a:gridCol>
              </a:tblGrid>
              <a:tr h="9660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 dirty="0">
                          <a:effectLst/>
                        </a:rPr>
                        <a:t>Caso</a:t>
                      </a:r>
                      <a:endParaRPr lang="en-BR" sz="25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O que acontece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Resultado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314325" marT="196453" marB="196453" anchor="ctr"/>
                </a:tc>
                <a:extLst>
                  <a:ext uri="{0D108BD9-81ED-4DB2-BD59-A6C34878D82A}">
                    <a16:rowId xmlns:a16="http://schemas.microsoft.com/office/drawing/2014/main" val="4156911808"/>
                  </a:ext>
                </a:extLst>
              </a:tr>
              <a:tr h="9660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 dirty="0">
                          <a:effectLst/>
                        </a:rPr>
                        <a:t>80%</a:t>
                      </a:r>
                      <a:endParaRPr lang="en-BR" sz="25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vira [MASK]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my dog is [MASK]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0" marT="196453" marB="196453" anchor="ctr"/>
                </a:tc>
                <a:extLst>
                  <a:ext uri="{0D108BD9-81ED-4DB2-BD59-A6C34878D82A}">
                    <a16:rowId xmlns:a16="http://schemas.microsoft.com/office/drawing/2014/main" val="1922755548"/>
                  </a:ext>
                </a:extLst>
              </a:tr>
              <a:tr h="9660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 dirty="0">
                          <a:effectLst/>
                        </a:rPr>
                        <a:t>10%</a:t>
                      </a:r>
                      <a:endParaRPr lang="en-BR" sz="25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palavra aleatória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my dog is apple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0" marT="196453" marB="196453" anchor="ctr"/>
                </a:tc>
                <a:extLst>
                  <a:ext uri="{0D108BD9-81ED-4DB2-BD59-A6C34878D82A}">
                    <a16:rowId xmlns:a16="http://schemas.microsoft.com/office/drawing/2014/main" val="787774498"/>
                  </a:ext>
                </a:extLst>
              </a:tr>
              <a:tr h="96602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 dirty="0">
                          <a:effectLst/>
                        </a:rPr>
                        <a:t>10%</a:t>
                      </a:r>
                      <a:endParaRPr lang="en-BR" sz="25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>
                          <a:effectLst/>
                        </a:rPr>
                        <a:t>mantém original</a:t>
                      </a:r>
                      <a:endParaRPr lang="en-BR" sz="25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314325" marT="196453" marB="1964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BR" sz="3300" kern="0" dirty="0">
                          <a:effectLst/>
                        </a:rPr>
                        <a:t>my dog is hairy</a:t>
                      </a:r>
                      <a:endParaRPr lang="en-BR" sz="25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14325" marR="0" marT="196453" marB="196453" anchor="ctr"/>
                </a:tc>
                <a:extLst>
                  <a:ext uri="{0D108BD9-81ED-4DB2-BD59-A6C34878D82A}">
                    <a16:rowId xmlns:a16="http://schemas.microsoft.com/office/drawing/2014/main" val="304285610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84B9F9F-25B1-E9EE-D791-77B08DBBB82C}"/>
              </a:ext>
            </a:extLst>
          </p:cNvPr>
          <p:cNvSpPr txBox="1"/>
          <p:nvPr/>
        </p:nvSpPr>
        <p:spPr>
          <a:xfrm>
            <a:off x="239485" y="1547642"/>
            <a:ext cx="106788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original: </a:t>
            </a:r>
            <a:r>
              <a:rPr lang="en-US" sz="2400" dirty="0"/>
              <a:t>my dog is hairy</a:t>
            </a:r>
            <a:r>
              <a:rPr lang="en-US" altLang="zh-CN" sz="2400" dirty="0"/>
              <a:t>.</a:t>
            </a:r>
            <a:r>
              <a:rPr lang="zh-CN" altLang="en-US" sz="2400" dirty="0"/>
              <a:t>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não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sabe qual dos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três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casos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ocorreu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–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que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 lidar com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todos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  <a:endParaRPr lang="en-BR" sz="2400" dirty="0"/>
          </a:p>
        </p:txBody>
      </p:sp>
    </p:spTree>
    <p:extLst>
      <p:ext uri="{BB962C8B-B14F-4D97-AF65-F5344CB8AC3E}">
        <p14:creationId xmlns:p14="http://schemas.microsoft.com/office/powerpoint/2010/main" val="3492674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EA619E-46E9-834A-39F4-6BB3C613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F88E0027-E1BC-C511-E2F3-1D2756CFF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b="1" dirty="0" err="1"/>
              <a:t>Porque</a:t>
            </a:r>
            <a:r>
              <a:rPr lang="en-US" b="1" dirty="0"/>
              <a:t> Usar </a:t>
            </a:r>
            <a:r>
              <a:rPr lang="en-US" b="1" dirty="0" err="1"/>
              <a:t>Três</a:t>
            </a:r>
            <a:r>
              <a:rPr lang="en-US" b="1" dirty="0"/>
              <a:t> </a:t>
            </a:r>
            <a:r>
              <a:rPr lang="en-US" b="1" dirty="0" err="1"/>
              <a:t>Estratégias</a:t>
            </a:r>
            <a:r>
              <a:rPr lang="en-US" b="1" dirty="0"/>
              <a:t>? (</a:t>
            </a:r>
            <a:r>
              <a:rPr lang="en-US" b="1" dirty="0" err="1"/>
              <a:t>Problema</a:t>
            </a:r>
            <a:r>
              <a:rPr lang="en-US" b="1" dirty="0"/>
              <a:t> do </a:t>
            </a:r>
            <a:r>
              <a:rPr lang="en-US" b="1" dirty="0" err="1"/>
              <a:t>Desalinhamento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8A875-76FA-7CB7-C751-3B30B3566471}"/>
              </a:ext>
            </a:extLst>
          </p:cNvPr>
          <p:cNvSpPr txBox="1"/>
          <p:nvPr/>
        </p:nvSpPr>
        <p:spPr>
          <a:xfrm>
            <a:off x="166255" y="1618801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Problema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No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treino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vê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[MASK], mas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tarefas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reais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nunca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vê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[MASK].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Solução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com 80/10/10: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D4C532-7051-AD7B-9598-B659E7D61B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668778"/>
              </p:ext>
            </p:extLst>
          </p:nvPr>
        </p:nvGraphicFramePr>
        <p:xfrm>
          <a:off x="3625123" y="3280996"/>
          <a:ext cx="7576275" cy="2338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0620">
                  <a:extLst>
                    <a:ext uri="{9D8B030D-6E8A-4147-A177-3AD203B41FA5}">
                      <a16:colId xmlns:a16="http://schemas.microsoft.com/office/drawing/2014/main" val="1927194945"/>
                    </a:ext>
                  </a:extLst>
                </a:gridCol>
                <a:gridCol w="4695655">
                  <a:extLst>
                    <a:ext uri="{9D8B030D-6E8A-4147-A177-3AD203B41FA5}">
                      <a16:colId xmlns:a16="http://schemas.microsoft.com/office/drawing/2014/main" val="1153326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Estratégia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Objetivo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173403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80% [MASK]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aprender a prever com contexto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965706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10% aleatório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aprender a corrigir erros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56108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>
                          <a:effectLst/>
                        </a:rPr>
                        <a:t>10% original</a:t>
                      </a:r>
                      <a:endParaRPr lang="en-BR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BR" sz="2400" kern="100" dirty="0">
                          <a:effectLst/>
                        </a:rPr>
                        <a:t>não ficar dependente do [MASK]</a:t>
                      </a:r>
                      <a:endParaRPr lang="en-BR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125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07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0F11009-E856-515F-D978-66BCBBFC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C52FF623-77BE-F392-6E86-C71122D53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Como o </a:t>
            </a:r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Aprende</a:t>
            </a:r>
            <a:r>
              <a:rPr lang="en-US" b="1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6FB1D-4449-CFB7-22BD-00A9DDC1F2E6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Passos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finais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Pega no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vetor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posição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mascarada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Passa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camada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fully connected (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densa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Aplica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softmax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→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probabilidade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para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cada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vocabulário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Compara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com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original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usando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cross-entropy loss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📌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minimizando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erro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entre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prevista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e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real.</a:t>
            </a:r>
          </a:p>
        </p:txBody>
      </p:sp>
    </p:spTree>
    <p:extLst>
      <p:ext uri="{BB962C8B-B14F-4D97-AF65-F5344CB8AC3E}">
        <p14:creationId xmlns:p14="http://schemas.microsoft.com/office/powerpoint/2010/main" val="245646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4FC365-DEBF-E27F-9D84-DCE06397E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5F48D16-3079-7663-BF29-5EA3C9634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b="1" dirty="0" err="1"/>
              <a:t>Comparação</a:t>
            </a:r>
            <a:r>
              <a:rPr lang="en-US" b="1" dirty="0"/>
              <a:t> </a:t>
            </a:r>
            <a:r>
              <a:rPr lang="en-US" b="1" dirty="0" err="1"/>
              <a:t>Rápida</a:t>
            </a:r>
            <a:r>
              <a:rPr lang="en-US" b="1" dirty="0"/>
              <a:t> – BERT vs GPT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1EA1B3-2575-7C3B-5FA9-AF8CC4224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905394"/>
              </p:ext>
            </p:extLst>
          </p:nvPr>
        </p:nvGraphicFramePr>
        <p:xfrm>
          <a:off x="838200" y="1956699"/>
          <a:ext cx="10515601" cy="40891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6690">
                  <a:extLst>
                    <a:ext uri="{9D8B030D-6E8A-4147-A177-3AD203B41FA5}">
                      <a16:colId xmlns:a16="http://schemas.microsoft.com/office/drawing/2014/main" val="4107084168"/>
                    </a:ext>
                  </a:extLst>
                </a:gridCol>
                <a:gridCol w="3456690">
                  <a:extLst>
                    <a:ext uri="{9D8B030D-6E8A-4147-A177-3AD203B41FA5}">
                      <a16:colId xmlns:a16="http://schemas.microsoft.com/office/drawing/2014/main" val="3555464466"/>
                    </a:ext>
                  </a:extLst>
                </a:gridCol>
                <a:gridCol w="3602221">
                  <a:extLst>
                    <a:ext uri="{9D8B030D-6E8A-4147-A177-3AD203B41FA5}">
                      <a16:colId xmlns:a16="http://schemas.microsoft.com/office/drawing/2014/main" val="477775866"/>
                    </a:ext>
                  </a:extLst>
                </a:gridCol>
              </a:tblGrid>
              <a:tr h="678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Característica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BERT (MLM)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GPT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extLst>
                  <a:ext uri="{0D108BD9-81ED-4DB2-BD59-A6C34878D82A}">
                    <a16:rowId xmlns:a16="http://schemas.microsoft.com/office/drawing/2014/main" val="4046125188"/>
                  </a:ext>
                </a:extLst>
              </a:tr>
              <a:tr h="10274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Direção do contexto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Bidirecional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Unidirecional (esq→dir)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0" marT="137900" marB="137900" anchor="ctr"/>
                </a:tc>
                <a:extLst>
                  <a:ext uri="{0D108BD9-81ED-4DB2-BD59-A6C34878D82A}">
                    <a16:rowId xmlns:a16="http://schemas.microsoft.com/office/drawing/2014/main" val="1996404136"/>
                  </a:ext>
                </a:extLst>
              </a:tr>
              <a:tr h="102744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Objetivo de treino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Prever [MASK]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Prever próxima palavra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0" marT="137900" marB="137900" anchor="ctr"/>
                </a:tc>
                <a:extLst>
                  <a:ext uri="{0D108BD9-81ED-4DB2-BD59-A6C34878D82A}">
                    <a16:rowId xmlns:a16="http://schemas.microsoft.com/office/drawing/2014/main" val="1005856707"/>
                  </a:ext>
                </a:extLst>
              </a:tr>
              <a:tr h="678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Usa [MASK]?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✅ Sim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❌ Não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0" marT="137900" marB="137900" anchor="ctr"/>
                </a:tc>
                <a:extLst>
                  <a:ext uri="{0D108BD9-81ED-4DB2-BD59-A6C34878D82A}">
                    <a16:rowId xmlns:a16="http://schemas.microsoft.com/office/drawing/2014/main" val="1446343317"/>
                  </a:ext>
                </a:extLst>
              </a:tr>
              <a:tr h="6781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Melhor para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Compreensão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220640" marT="137900" marB="1379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 dirty="0">
                          <a:effectLst/>
                        </a:rPr>
                        <a:t>Geração de texto</a:t>
                      </a:r>
                      <a:endParaRPr lang="en-BR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640" marR="0" marT="137900" marB="137900" anchor="ctr"/>
                </a:tc>
                <a:extLst>
                  <a:ext uri="{0D108BD9-81ED-4DB2-BD59-A6C34878D82A}">
                    <a16:rowId xmlns:a16="http://schemas.microsoft.com/office/drawing/2014/main" val="3140971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769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7ED1AD3-7898-6520-E025-1D54D524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36B9F986-8AB6-4983-F2E5-6E5394C5C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/>
              <a:t>MLM -- </a:t>
            </a:r>
            <a:r>
              <a:rPr lang="en-US" b="1" dirty="0" err="1"/>
              <a:t>Resumo</a:t>
            </a:r>
            <a:r>
              <a:rPr lang="en-US" b="1" dirty="0"/>
              <a:t> Final (Takeaways)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16E53-2BF4-2A9B-B524-1F2688676E1F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MLM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permite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que o BERT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veja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contexto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dos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dois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lados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Usa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15% das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como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alvo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80/10/10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resolve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problema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desalinhamento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prever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corrigir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e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reter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informação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Este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segredo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sucesso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 BERT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tarefas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compreensão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80432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69F848D-6956-9089-1FFA-DBDF17F5C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7A52AD0A-2565-9358-02E4-04743E39D6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Limitação</a:t>
            </a:r>
            <a:r>
              <a:rPr lang="en-US" b="1" dirty="0"/>
              <a:t> do MLM (</a:t>
            </a:r>
            <a:r>
              <a:rPr lang="en-US" b="1" dirty="0" err="1"/>
              <a:t>Motivação</a:t>
            </a:r>
            <a:r>
              <a:rPr lang="en-US" b="1" dirty="0"/>
              <a:t> para o NSP)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94A48-6148-EF2F-6CDA-034EB67DFD61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O MLM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ótimo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para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, mas...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MLM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representações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nível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de token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individuais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Muitas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tarefas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precisam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compreensão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entre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Responder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perguntas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(QA)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Inferência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natural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linguagem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(NLI)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pares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r>
              <a:rPr lang="en-US" sz="2400" b="1" dirty="0" err="1">
                <a:effectLst/>
              </a:rPr>
              <a:t>Problema</a:t>
            </a:r>
            <a:r>
              <a:rPr lang="en-US" sz="2400" b="1" dirty="0">
                <a:effectLst/>
              </a:rPr>
              <a:t>:</a:t>
            </a:r>
            <a:r>
              <a:rPr lang="en-US" sz="2400" dirty="0">
                <a:effectLst/>
              </a:rPr>
              <a:t> Como </a:t>
            </a:r>
            <a:r>
              <a:rPr lang="en-US" sz="2400" dirty="0" err="1">
                <a:effectLst/>
              </a:rPr>
              <a:t>fazer</a:t>
            </a:r>
            <a:r>
              <a:rPr lang="en-US" sz="2400" dirty="0">
                <a:effectLst/>
              </a:rPr>
              <a:t> o BERT </a:t>
            </a:r>
            <a:r>
              <a:rPr lang="en-US" sz="2400" dirty="0" err="1">
                <a:effectLst/>
              </a:rPr>
              <a:t>entender</a:t>
            </a:r>
            <a:r>
              <a:rPr lang="en-US" sz="2400" dirty="0">
                <a:effectLst/>
              </a:rPr>
              <a:t> se duas </a:t>
            </a:r>
            <a:r>
              <a:rPr lang="en-US" sz="2400" dirty="0" err="1">
                <a:effectLst/>
              </a:rPr>
              <a:t>frases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estão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ligadas</a:t>
            </a:r>
            <a:r>
              <a:rPr lang="en-US" sz="2400" dirty="0">
                <a:effectLst/>
              </a:rPr>
              <a:t> </a:t>
            </a:r>
            <a:r>
              <a:rPr lang="en-US" sz="2400" dirty="0" err="1">
                <a:effectLst/>
              </a:rPr>
              <a:t>logicamente</a:t>
            </a:r>
            <a:r>
              <a:rPr lang="en-US" sz="2400" dirty="0">
                <a:effectLst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7924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4BE973F-8189-FA11-8941-104D1E5C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007A83E-B13D-1BFA-7514-4371E50E2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/>
              <a:t>O que </a:t>
            </a:r>
            <a:r>
              <a:rPr lang="en-US" b="1" dirty="0" err="1"/>
              <a:t>é</a:t>
            </a:r>
            <a:r>
              <a:rPr lang="en-US" b="1" dirty="0"/>
              <a:t> o NSP?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221BA-68AB-C4D1-A606-BE3659A9E7D2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Next Sentence Prediction (NSP)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Objetivo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prever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se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duas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aparecem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seguidas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no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texto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original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Tipo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tarefa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binária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Saída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possível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→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B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realmente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próxima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da A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NotNext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→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B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foi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sorteada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aleatoriamente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do corpus</a:t>
            </a:r>
          </a:p>
        </p:txBody>
      </p:sp>
    </p:spTree>
    <p:extLst>
      <p:ext uri="{BB962C8B-B14F-4D97-AF65-F5344CB8AC3E}">
        <p14:creationId xmlns:p14="http://schemas.microsoft.com/office/powerpoint/2010/main" val="187553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9E3F7B4-2CB8-C201-3D84-AF0B9B536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9D27FCD-60F5-4886-1472-DF66894300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292326"/>
            <a:ext cx="7041469" cy="7728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b="1" kern="1200" dirty="0">
                <a:latin typeface="+mj-lt"/>
                <a:ea typeface="+mj-ea"/>
                <a:cs typeface="+mj-cs"/>
              </a:rPr>
              <a:t>Como Construir os Dados para o NSP?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FD785-454B-E308-4D7E-7CDA79809C47}"/>
              </a:ext>
            </a:extLst>
          </p:cNvPr>
          <p:cNvSpPr txBox="1"/>
          <p:nvPr/>
        </p:nvSpPr>
        <p:spPr>
          <a:xfrm>
            <a:off x="241640" y="1617706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pt-BR" sz="2400" b="0" i="0" kern="1200" dirty="0">
                <a:effectLst/>
                <a:latin typeface="+mn-lt"/>
                <a:ea typeface="+mn-ea"/>
                <a:cs typeface="+mn-cs"/>
              </a:rPr>
              <a:t>Para cada exemplo de treino, pegamos duas frases: </a:t>
            </a:r>
            <a:r>
              <a:rPr lang="pt-BR" sz="2400" b="1" i="0" kern="1200" dirty="0">
                <a:effectLst/>
                <a:latin typeface="+mn-lt"/>
                <a:ea typeface="+mn-ea"/>
                <a:cs typeface="+mn-cs"/>
              </a:rPr>
              <a:t>A</a:t>
            </a:r>
            <a:r>
              <a:rPr lang="pt-BR" sz="2400" b="0" i="0" kern="1200" dirty="0">
                <a:effectLst/>
                <a:latin typeface="+mn-lt"/>
                <a:ea typeface="+mn-ea"/>
                <a:cs typeface="+mn-cs"/>
              </a:rPr>
              <a:t> e </a:t>
            </a:r>
            <a:r>
              <a:rPr lang="pt-BR" sz="2400" b="1" i="0" kern="1200" dirty="0" err="1">
                <a:effectLst/>
                <a:latin typeface="+mn-lt"/>
                <a:ea typeface="+mn-ea"/>
                <a:cs typeface="+mn-cs"/>
              </a:rPr>
              <a:t>B</a:t>
            </a:r>
            <a:endParaRPr lang="pt-BR" sz="2400" b="1" i="0" kern="1200" dirty="0">
              <a:effectLst/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2400" b="1" dirty="0"/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📌 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Isto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permite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treinar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sem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precisar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anotação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humana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aprendizagem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auto-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supervisionada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br>
              <a:rPr lang="en-US" sz="2400" dirty="0"/>
            </a:br>
            <a:endParaRPr lang="pt-BR" sz="2400" b="0" i="0" kern="1200" dirty="0">
              <a:effectLst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442EAB9-A921-84B6-7AD7-1ABFCEB1E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457910"/>
              </p:ext>
            </p:extLst>
          </p:nvPr>
        </p:nvGraphicFramePr>
        <p:xfrm>
          <a:off x="5183188" y="1617706"/>
          <a:ext cx="6814849" cy="36130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5073">
                  <a:extLst>
                    <a:ext uri="{9D8B030D-6E8A-4147-A177-3AD203B41FA5}">
                      <a16:colId xmlns:a16="http://schemas.microsoft.com/office/drawing/2014/main" val="413010759"/>
                    </a:ext>
                  </a:extLst>
                </a:gridCol>
                <a:gridCol w="2857028">
                  <a:extLst>
                    <a:ext uri="{9D8B030D-6E8A-4147-A177-3AD203B41FA5}">
                      <a16:colId xmlns:a16="http://schemas.microsoft.com/office/drawing/2014/main" val="585299222"/>
                    </a:ext>
                  </a:extLst>
                </a:gridCol>
                <a:gridCol w="1722748">
                  <a:extLst>
                    <a:ext uri="{9D8B030D-6E8A-4147-A177-3AD203B41FA5}">
                      <a16:colId xmlns:a16="http://schemas.microsoft.com/office/drawing/2014/main" val="2726019967"/>
                    </a:ext>
                  </a:extLst>
                </a:gridCol>
              </a:tblGrid>
              <a:tr h="61345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Situação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Probabilidade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Rótulo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216773" marT="135483" marB="135483" anchor="ctr"/>
                </a:tc>
                <a:extLst>
                  <a:ext uri="{0D108BD9-81ED-4DB2-BD59-A6C34878D82A}">
                    <a16:rowId xmlns:a16="http://schemas.microsoft.com/office/drawing/2014/main" val="2370200733"/>
                  </a:ext>
                </a:extLst>
              </a:tr>
              <a:tr h="14998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 é a frase seguinte à A (contexto real)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50%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IsNext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0" marT="135483" marB="135483" anchor="ctr"/>
                </a:tc>
                <a:extLst>
                  <a:ext uri="{0D108BD9-81ED-4DB2-BD59-A6C34878D82A}">
                    <a16:rowId xmlns:a16="http://schemas.microsoft.com/office/drawing/2014/main" val="1228358949"/>
                  </a:ext>
                </a:extLst>
              </a:tr>
              <a:tr h="14998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 é uma frase aleatória do corpus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50%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216773" marT="135483" marB="13548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 dirty="0">
                          <a:effectLst/>
                        </a:rPr>
                        <a:t>NotNext</a:t>
                      </a:r>
                      <a:endParaRPr lang="en-BR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773" marR="0" marT="135483" marB="135483" anchor="ctr"/>
                </a:tc>
                <a:extLst>
                  <a:ext uri="{0D108BD9-81ED-4DB2-BD59-A6C34878D82A}">
                    <a16:rowId xmlns:a16="http://schemas.microsoft.com/office/drawing/2014/main" val="741537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81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5F53D91-BC07-BB63-625F-8C34C6A6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0DC39F2E-2A8E-CC19-CF8D-3C32688F51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1 – </a:t>
            </a:r>
            <a:r>
              <a:rPr lang="en-US" b="1" dirty="0" err="1"/>
              <a:t>IsNext</a:t>
            </a:r>
            <a:r>
              <a:rPr lang="en-US" b="1" dirty="0"/>
              <a:t> (</a:t>
            </a:r>
            <a:r>
              <a:rPr lang="en-US" b="1" dirty="0" err="1"/>
              <a:t>Frases</a:t>
            </a:r>
            <a:r>
              <a:rPr lang="en-US" b="1" dirty="0"/>
              <a:t> </a:t>
            </a:r>
            <a:r>
              <a:rPr lang="en-US" b="1" dirty="0" err="1"/>
              <a:t>Seguidas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C663A-9309-B4C6-F222-8C14386DC3C6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the man went to the store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B: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he bought a gallon of milk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Rótulo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Input do BERT:</a:t>
            </a:r>
            <a:r>
              <a:rPr lang="en-BR" sz="2400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[CLS] the man went to [MASK] store [SEP] he bought a gallon [MASK] milk [SEP]</a:t>
            </a: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BERT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recebe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as duas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separadas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dirty="0"/>
              <a:t>[SEP]</a:t>
            </a:r>
            <a:br>
              <a:rPr lang="en-US" sz="2400" dirty="0"/>
            </a:b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34346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AF5485D-FA5E-6E44-9C82-3E2DCC73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F76AFB51-C928-D63F-6A0D-8F3E82CDC0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1 – </a:t>
            </a:r>
            <a:r>
              <a:rPr lang="en-US" b="1" dirty="0" err="1"/>
              <a:t>IsNext</a:t>
            </a:r>
            <a:r>
              <a:rPr lang="en-US" b="1" dirty="0"/>
              <a:t> (</a:t>
            </a:r>
            <a:r>
              <a:rPr lang="en-US" b="1" dirty="0" err="1"/>
              <a:t>Frases</a:t>
            </a:r>
            <a:r>
              <a:rPr lang="en-US" b="1" dirty="0"/>
              <a:t> </a:t>
            </a:r>
            <a:r>
              <a:rPr lang="en-US" b="1" dirty="0" err="1"/>
              <a:t>Seguidas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26B35-8220-AD8F-A0AA-22DB8D27E7BD}"/>
              </a:ext>
            </a:extLst>
          </p:cNvPr>
          <p:cNvSpPr txBox="1"/>
          <p:nvPr/>
        </p:nvSpPr>
        <p:spPr>
          <a:xfrm>
            <a:off x="166255" y="1346657"/>
            <a:ext cx="10251374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the man went to the store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B: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he bought a gallon of milk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Rótulo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✅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Input do BERT:</a:t>
            </a:r>
            <a:r>
              <a:rPr lang="en-BR" sz="2400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[CLS] the man went to [MASK] store [SEP] he bought a gallon [MASK] milk [SEP]</a:t>
            </a: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BERT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recebe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as duas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separadas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dirty="0"/>
              <a:t>[SEP]</a:t>
            </a:r>
            <a:br>
              <a:rPr lang="en-US" sz="2400" dirty="0"/>
            </a:b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4844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AC79EB-A65B-6FC1-880E-9C60F38F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CBFFE95A-4155-1DCB-4279-A4BFA82C6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629" y="114751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2 – </a:t>
            </a:r>
            <a:r>
              <a:rPr lang="en-US" b="1" dirty="0" err="1"/>
              <a:t>NotNext</a:t>
            </a:r>
            <a:r>
              <a:rPr lang="en-US" b="1" dirty="0"/>
              <a:t> (</a:t>
            </a:r>
            <a:r>
              <a:rPr lang="en-US" b="1" dirty="0" err="1"/>
              <a:t>Frases</a:t>
            </a:r>
            <a:r>
              <a:rPr lang="en-US" b="1" dirty="0"/>
              <a:t> </a:t>
            </a:r>
            <a:r>
              <a:rPr lang="en-US" b="1" dirty="0" err="1"/>
              <a:t>Aleatórias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FC73C-60C5-8057-9F92-D0F2FDE19968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the man went to the store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B (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aleatória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):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penguins are flightless birds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Rótulo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NotNext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❌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Input do BERT:</a:t>
            </a:r>
            <a:r>
              <a:rPr lang="en-BR" sz="2400" dirty="0">
                <a:solidFill>
                  <a:srgbClr val="0F1115"/>
                </a:solidFill>
                <a:latin typeface="quote-cjk-patch"/>
              </a:rPr>
              <a:t>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[CLS] the man [MASK] to the store [SEP] penguin [MASK] are flight ##less birds [SEP]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token </a:t>
            </a:r>
            <a:r>
              <a:rPr lang="en-US" sz="2400" dirty="0"/>
              <a:t>##less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indica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palavra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partida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WordPiece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br>
              <a:rPr lang="en-US" sz="2400" dirty="0"/>
            </a:br>
            <a:br>
              <a:rPr lang="en-US" sz="2400" dirty="0"/>
            </a:b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51975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403C34-1A1D-F675-F2BA-B44573F6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ACF6D9A2-9C9D-A4BB-1428-47FEB06CA8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0722429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/>
              <a:t>Como o BERT Usa o Token [CLS] para o NSP?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C02FD2-F752-45CF-EA48-2BFD1E1911CD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O token especial [CLS]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colocado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sempre no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início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Durante 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treino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, o BERT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condensa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informação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toda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frase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no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vetor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C 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posição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[CLS])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Esse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vetor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C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passado para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uma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camada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binária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saída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indica: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IsNext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ou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NotNext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📌 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O [CLS] 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funciona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como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um "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resumo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" da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relação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entre as duas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br>
              <a:rPr lang="en-US" sz="2400" dirty="0"/>
            </a:br>
            <a:br>
              <a:rPr lang="en-US" sz="2400" dirty="0"/>
            </a:b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55003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2DDAF41-76F7-39D0-9F05-978AFA38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B1D3D996-CD02-6842-AAE9-491B605A4C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 b="1" kern="1200">
                <a:latin typeface="+mj-lt"/>
                <a:ea typeface="+mj-ea"/>
                <a:cs typeface="+mj-cs"/>
              </a:rPr>
              <a:t> </a:t>
            </a:r>
            <a:r>
              <a:rPr lang="pt-BR" kern="1200">
                <a:latin typeface="+mj-lt"/>
                <a:ea typeface="+mj-ea"/>
                <a:cs typeface="+mj-cs"/>
              </a:rPr>
              <a:t> </a:t>
            </a:r>
            <a:r>
              <a:rPr lang="pt-BR" b="1" kern="1200">
                <a:latin typeface="+mj-lt"/>
                <a:ea typeface="+mj-ea"/>
                <a:cs typeface="+mj-cs"/>
              </a:rPr>
              <a:t>Dois Objetivos de Treino (MLM + NSP)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00188-C156-EF99-D999-AAEF50DA8EAC}"/>
              </a:ext>
            </a:extLst>
          </p:cNvPr>
          <p:cNvSpPr txBox="1"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16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16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16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16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endParaRPr lang="pt-BR" sz="1600" kern="1200" dirty="0">
              <a:latin typeface="+mn-lt"/>
              <a:ea typeface="+mn-ea"/>
              <a:cs typeface="+mn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</a:pPr>
            <a:r>
              <a:rPr lang="pt-BR" b="0" i="0" kern="1200" dirty="0">
                <a:effectLst/>
                <a:latin typeface="+mn-lt"/>
                <a:ea typeface="+mn-ea"/>
                <a:cs typeface="+mn-cs"/>
              </a:rPr>
              <a:t>✅ Ambos são </a:t>
            </a:r>
            <a:r>
              <a:rPr lang="pt-BR" b="1" i="0" kern="1200" dirty="0" err="1">
                <a:effectLst/>
                <a:latin typeface="+mn-lt"/>
                <a:ea typeface="+mn-ea"/>
                <a:cs typeface="+mn-cs"/>
              </a:rPr>
              <a:t>auto-supervisionados</a:t>
            </a:r>
            <a:br>
              <a:rPr lang="pt-BR" kern="1200" dirty="0">
                <a:latin typeface="+mn-lt"/>
                <a:ea typeface="+mn-ea"/>
                <a:cs typeface="+mn-cs"/>
              </a:rPr>
            </a:br>
            <a:r>
              <a:rPr lang="pt-BR" b="0" i="0" kern="1200" dirty="0">
                <a:effectLst/>
                <a:latin typeface="+mn-lt"/>
                <a:ea typeface="+mn-ea"/>
                <a:cs typeface="+mn-cs"/>
              </a:rPr>
              <a:t>✅ Não precisam de dados anotados manualmente</a:t>
            </a:r>
            <a:br>
              <a:rPr lang="pt-BR" sz="1600" kern="1200" dirty="0">
                <a:latin typeface="+mn-lt"/>
                <a:ea typeface="+mn-ea"/>
                <a:cs typeface="+mn-cs"/>
              </a:rPr>
            </a:br>
            <a:br>
              <a:rPr lang="pt-BR" sz="1600" kern="1200" dirty="0">
                <a:latin typeface="+mn-lt"/>
                <a:ea typeface="+mn-ea"/>
                <a:cs typeface="+mn-cs"/>
              </a:rPr>
            </a:br>
            <a:endParaRPr lang="pt-BR" sz="1600" b="0" i="0" kern="1200" dirty="0">
              <a:effectLst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5FDEEAD-9AFB-2C8C-DD8B-DA59E5E27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351356"/>
              </p:ext>
            </p:extLst>
          </p:nvPr>
        </p:nvGraphicFramePr>
        <p:xfrm>
          <a:off x="4959927" y="1301433"/>
          <a:ext cx="7024256" cy="42456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3174">
                  <a:extLst>
                    <a:ext uri="{9D8B030D-6E8A-4147-A177-3AD203B41FA5}">
                      <a16:colId xmlns:a16="http://schemas.microsoft.com/office/drawing/2014/main" val="59963811"/>
                    </a:ext>
                  </a:extLst>
                </a:gridCol>
                <a:gridCol w="2734739">
                  <a:extLst>
                    <a:ext uri="{9D8B030D-6E8A-4147-A177-3AD203B41FA5}">
                      <a16:colId xmlns:a16="http://schemas.microsoft.com/office/drawing/2014/main" val="3666024911"/>
                    </a:ext>
                  </a:extLst>
                </a:gridCol>
                <a:gridCol w="2546343">
                  <a:extLst>
                    <a:ext uri="{9D8B030D-6E8A-4147-A177-3AD203B41FA5}">
                      <a16:colId xmlns:a16="http://schemas.microsoft.com/office/drawing/2014/main" val="1422033889"/>
                    </a:ext>
                  </a:extLst>
                </a:gridCol>
              </a:tblGrid>
              <a:tr h="97375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Objetivo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O que faz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Tipo de tarefa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209109" marT="130693" marB="130693" anchor="ctr"/>
                </a:tc>
                <a:extLst>
                  <a:ext uri="{0D108BD9-81ED-4DB2-BD59-A6C34878D82A}">
                    <a16:rowId xmlns:a16="http://schemas.microsoft.com/office/drawing/2014/main" val="257699338"/>
                  </a:ext>
                </a:extLst>
              </a:tr>
              <a:tr h="1635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MLM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Prever palavras mascaradas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Classificação multi-classe (vocabulário inteiro)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0" marT="130693" marB="130693" anchor="ctr"/>
                </a:tc>
                <a:extLst>
                  <a:ext uri="{0D108BD9-81ED-4DB2-BD59-A6C34878D82A}">
                    <a16:rowId xmlns:a16="http://schemas.microsoft.com/office/drawing/2014/main" val="3286214555"/>
                  </a:ext>
                </a:extLst>
              </a:tr>
              <a:tr h="163593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NSP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>
                          <a:effectLst/>
                        </a:rPr>
                        <a:t>Prever se duas frases são consecutivas</a:t>
                      </a:r>
                      <a:endParaRPr lang="en-BR" sz="16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209109" marT="130693" marB="13069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500" kern="100" dirty="0">
                          <a:effectLst/>
                        </a:rPr>
                        <a:t>Classificação binária (IsNext / NotNext)</a:t>
                      </a:r>
                      <a:endParaRPr lang="en-BR" sz="16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09109" marR="0" marT="130693" marB="130693" anchor="ctr"/>
                </a:tc>
                <a:extLst>
                  <a:ext uri="{0D108BD9-81ED-4DB2-BD59-A6C34878D82A}">
                    <a16:rowId xmlns:a16="http://schemas.microsoft.com/office/drawing/2014/main" val="155514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480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9D328F8-40AD-A09E-FB16-DD9C55C5B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AB4F42DE-1FB5-9CB5-B24C-53F669B6A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Estrutura</a:t>
            </a:r>
            <a:r>
              <a:rPr lang="en-US" b="1" dirty="0"/>
              <a:t> </a:t>
            </a:r>
            <a:r>
              <a:rPr lang="en-US" b="1" dirty="0" err="1"/>
              <a:t>Completa</a:t>
            </a:r>
            <a:r>
              <a:rPr lang="en-US" b="1" dirty="0"/>
              <a:t> de um </a:t>
            </a:r>
            <a:r>
              <a:rPr lang="en-US" b="1" dirty="0" err="1"/>
              <a:t>Exemplo</a:t>
            </a:r>
            <a:r>
              <a:rPr lang="en-US" b="1" dirty="0"/>
              <a:t> de </a:t>
            </a:r>
            <a:r>
              <a:rPr lang="en-US" b="1" dirty="0" err="1"/>
              <a:t>Treino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FEC4CE-0589-8CE7-48D7-2EC7EB06BBBF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Input: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[CLS] the man went to [MASK] store [SEP] he bought a gallon [MASK] milk [SEP]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Rótulos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MLM: [MASK] → "the" e "of"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NSP: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IsNext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Perda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final (Loss):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Loss_total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=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Loss_MLM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+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Loss_NSP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dois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objetivos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treinados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simultaneamente</a:t>
            </a: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5E440-7F59-AE64-EF74-0CE6C19158BA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132519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D73B94-D474-971A-74B5-6B21B4753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518AE721-D603-6CE0-867B-235CD7763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70263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/>
              <a:t> </a:t>
            </a:r>
            <a:r>
              <a:rPr lang="en-US" b="1" dirty="0" err="1"/>
              <a:t>Comparação</a:t>
            </a:r>
            <a:r>
              <a:rPr lang="en-US" b="1" dirty="0"/>
              <a:t> com </a:t>
            </a:r>
            <a:r>
              <a:rPr lang="en-US" b="1" dirty="0" err="1"/>
              <a:t>Visão</a:t>
            </a:r>
            <a:r>
              <a:rPr lang="en-US" b="1" dirty="0"/>
              <a:t> </a:t>
            </a:r>
            <a:r>
              <a:rPr lang="en-US" b="1" dirty="0" err="1"/>
              <a:t>Computacional</a:t>
            </a:r>
            <a:r>
              <a:rPr lang="en-US" b="1" dirty="0"/>
              <a:t> (CV)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0EE6D-FF36-9456-EA99-73218991CAF5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en-BR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7B0751-D9F9-E476-9576-D9BAD18B19B7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51ACFB-C9CC-7B67-A8A4-25AF5DB38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39787"/>
              </p:ext>
            </p:extLst>
          </p:nvPr>
        </p:nvGraphicFramePr>
        <p:xfrm>
          <a:off x="838200" y="1571203"/>
          <a:ext cx="10515602" cy="41120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8565">
                  <a:extLst>
                    <a:ext uri="{9D8B030D-6E8A-4147-A177-3AD203B41FA5}">
                      <a16:colId xmlns:a16="http://schemas.microsoft.com/office/drawing/2014/main" val="3901015236"/>
                    </a:ext>
                  </a:extLst>
                </a:gridCol>
                <a:gridCol w="3484136">
                  <a:extLst>
                    <a:ext uri="{9D8B030D-6E8A-4147-A177-3AD203B41FA5}">
                      <a16:colId xmlns:a16="http://schemas.microsoft.com/office/drawing/2014/main" val="666583197"/>
                    </a:ext>
                  </a:extLst>
                </a:gridCol>
                <a:gridCol w="3572901">
                  <a:extLst>
                    <a:ext uri="{9D8B030D-6E8A-4147-A177-3AD203B41FA5}">
                      <a16:colId xmlns:a16="http://schemas.microsoft.com/office/drawing/2014/main" val="1548002205"/>
                    </a:ext>
                  </a:extLst>
                </a:gridCol>
              </a:tblGrid>
              <a:tr h="1028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 dirty="0">
                          <a:effectLst/>
                        </a:rPr>
                        <a:t>Característica</a:t>
                      </a:r>
                      <a:endParaRPr lang="en-BR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BERT (NLP)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Redes Convolucionais (CV)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220759" marT="137975" marB="137975" anchor="ctr"/>
                </a:tc>
                <a:extLst>
                  <a:ext uri="{0D108BD9-81ED-4DB2-BD59-A6C34878D82A}">
                    <a16:rowId xmlns:a16="http://schemas.microsoft.com/office/drawing/2014/main" val="452835528"/>
                  </a:ext>
                </a:extLst>
              </a:tr>
              <a:tr h="13775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Dados de treino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Texto não anotado (criado automaticamente)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Imagens anotadas à mão (ex: ImageNet)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0" marT="137975" marB="137975" anchor="ctr"/>
                </a:tc>
                <a:extLst>
                  <a:ext uri="{0D108BD9-81ED-4DB2-BD59-A6C34878D82A}">
                    <a16:rowId xmlns:a16="http://schemas.microsoft.com/office/drawing/2014/main" val="2822476615"/>
                  </a:ext>
                </a:extLst>
              </a:tr>
              <a:tr h="102800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Escala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Fácil de obter bilhões de exemplos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Caro e demorado para anotar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0" marT="137975" marB="137975" anchor="ctr"/>
                </a:tc>
                <a:extLst>
                  <a:ext uri="{0D108BD9-81ED-4DB2-BD59-A6C34878D82A}">
                    <a16:rowId xmlns:a16="http://schemas.microsoft.com/office/drawing/2014/main" val="2096634239"/>
                  </a:ext>
                </a:extLst>
              </a:tr>
              <a:tr h="67846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Custo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Muito baixo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220759" marT="137975" marB="13797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 dirty="0">
                          <a:effectLst/>
                        </a:rPr>
                        <a:t>Muito alto</a:t>
                      </a:r>
                      <a:endParaRPr lang="en-BR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759" marR="0" marT="137975" marB="137975" anchor="ctr"/>
                </a:tc>
                <a:extLst>
                  <a:ext uri="{0D108BD9-81ED-4DB2-BD59-A6C34878D82A}">
                    <a16:rowId xmlns:a16="http://schemas.microsoft.com/office/drawing/2014/main" val="6978904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0A012D9-6FD2-40FE-9CE2-28E3D6EDF6DB}"/>
              </a:ext>
            </a:extLst>
          </p:cNvPr>
          <p:cNvSpPr txBox="1"/>
          <p:nvPr/>
        </p:nvSpPr>
        <p:spPr>
          <a:xfrm>
            <a:off x="707570" y="5846544"/>
            <a:ext cx="10833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Esta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uma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das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grandes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vantagens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do BERT: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pré-treinamento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sem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supervisão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humana</a:t>
            </a:r>
            <a:endParaRPr lang="en-BR" sz="2400" dirty="0"/>
          </a:p>
        </p:txBody>
      </p:sp>
    </p:spTree>
    <p:extLst>
      <p:ext uri="{BB962C8B-B14F-4D97-AF65-F5344CB8AC3E}">
        <p14:creationId xmlns:p14="http://schemas.microsoft.com/office/powerpoint/2010/main" val="103083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EFDDA9-78A1-0D49-D7B9-79DDC2ED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F372233B-9388-560F-5EB1-66DB135875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Resumo</a:t>
            </a:r>
            <a:r>
              <a:rPr lang="en-US" b="1" dirty="0"/>
              <a:t> Final dos </a:t>
            </a:r>
            <a:r>
              <a:rPr lang="en-US" b="1" dirty="0" err="1"/>
              <a:t>Dois</a:t>
            </a:r>
            <a:r>
              <a:rPr lang="en-US" b="1" dirty="0"/>
              <a:t> </a:t>
            </a:r>
            <a:r>
              <a:rPr lang="en-US" b="1" dirty="0" err="1"/>
              <a:t>Objetivos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22771-ADE4-98D6-673E-B0DEBBF14AE2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MLM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→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significado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das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palavras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no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contexto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NSP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→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aprende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relações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entre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frases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Juntos,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permitem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que o BERT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seja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usado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quase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todas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as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tarefas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de NLP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QA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Inferência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Similaridade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textos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9EF82E-A3B7-C942-DA9C-F7C080DDF366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47591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37D6A9-CD2C-9BF0-03F6-81D06A68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556AA8B5-99D9-11CA-F44C-3A5D41706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b="1" kern="1200">
                <a:latin typeface="+mj-lt"/>
                <a:ea typeface="+mj-ea"/>
                <a:cs typeface="+mj-cs"/>
              </a:rPr>
              <a:t> </a:t>
            </a:r>
            <a:r>
              <a:rPr lang="pt-BR" kern="1200">
                <a:latin typeface="+mj-lt"/>
                <a:ea typeface="+mj-ea"/>
                <a:cs typeface="+mj-cs"/>
              </a:rPr>
              <a:t> </a:t>
            </a:r>
            <a:r>
              <a:rPr lang="pt-BR" b="1" kern="1200">
                <a:latin typeface="+mj-lt"/>
                <a:ea typeface="+mj-ea"/>
                <a:cs typeface="+mj-cs"/>
              </a:rPr>
              <a:t>O que é a Binary Crossentropy?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6B286-A9D3-F611-CF92-2DFABC9D8F12}"/>
              </a:ext>
            </a:extLst>
          </p:cNvPr>
          <p:cNvSpPr txBox="1"/>
          <p:nvPr/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00" b="0" i="0">
                <a:effectLst/>
              </a:rPr>
              <a:t>É uma </a:t>
            </a:r>
            <a:r>
              <a:rPr lang="pt-BR" sz="2600" b="1" i="0">
                <a:effectLst/>
              </a:rPr>
              <a:t>função de perda (loss function)</a:t>
            </a:r>
            <a:r>
              <a:rPr lang="pt-BR" sz="2600" b="0" i="0">
                <a:effectLst/>
              </a:rPr>
              <a:t> usada em problemas de </a:t>
            </a:r>
            <a:r>
              <a:rPr lang="pt-BR" sz="2600" b="1" i="0">
                <a:effectLst/>
              </a:rPr>
              <a:t>classificação binária</a:t>
            </a:r>
            <a:endParaRPr lang="pt-BR" sz="2600" b="0" i="0">
              <a:effectLst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00" b="0" i="0">
                <a:effectLst/>
              </a:rPr>
              <a:t>Mede o quão bem o modelo está a prever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00" b="0" i="0">
                <a:effectLst/>
              </a:rPr>
              <a:t>Quanto </a:t>
            </a:r>
            <a:r>
              <a:rPr lang="pt-BR" sz="2600" b="1" i="0">
                <a:effectLst/>
              </a:rPr>
              <a:t>menor</a:t>
            </a:r>
            <a:r>
              <a:rPr lang="pt-BR" sz="2600" b="0" i="0">
                <a:effectLst/>
              </a:rPr>
              <a:t> o valor, </a:t>
            </a:r>
            <a:r>
              <a:rPr lang="pt-BR" sz="2600" b="1" i="0">
                <a:effectLst/>
              </a:rPr>
              <a:t>melhor</a:t>
            </a:r>
            <a:r>
              <a:rPr lang="pt-BR" sz="2600" b="0" i="0">
                <a:effectLst/>
              </a:rPr>
              <a:t> o modelo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2600" b="0" i="0">
                <a:effectLst/>
              </a:rPr>
              <a:t>📌 </a:t>
            </a:r>
            <a:r>
              <a:rPr lang="pt-BR" sz="2600" b="0" i="1">
                <a:effectLst/>
              </a:rPr>
              <a:t>Também chamada de "log loss"</a:t>
            </a:r>
            <a:endParaRPr lang="pt-BR" sz="2600" b="0" i="0">
              <a:effectLst/>
            </a:endParaRPr>
          </a:p>
        </p:txBody>
      </p:sp>
      <p:pic>
        <p:nvPicPr>
          <p:cNvPr id="25602" name="Picture 2" descr="Focal Loss vs. Binary Cross Entropy ...">
            <a:extLst>
              <a:ext uri="{FF2B5EF4-FFF2-40B4-BE49-F238E27FC236}">
                <a16:creationId xmlns:a16="http://schemas.microsoft.com/office/drawing/2014/main" id="{1B5A9690-0E4E-5638-67A6-C3C28A11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0" r="25419" b="2"/>
          <a:stretch>
            <a:fillRect/>
          </a:stretch>
        </p:blipFill>
        <p:spPr bwMode="auto">
          <a:xfrm>
            <a:off x="6172200" y="1825625"/>
            <a:ext cx="5181600" cy="4351338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651FB4-0954-F247-0CCC-18549070F325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65605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DC34175-72FB-9A25-D53B-B8E4646D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EE8375F7-E442-6C9A-11BC-641D71639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/>
              <a:t> </a:t>
            </a:r>
            <a:r>
              <a:rPr lang="en-US" b="1" dirty="0" err="1"/>
              <a:t>Aplicações</a:t>
            </a:r>
            <a:r>
              <a:rPr lang="en-US" b="1" dirty="0"/>
              <a:t> </a:t>
            </a:r>
            <a:r>
              <a:rPr lang="en-US" b="1" dirty="0" err="1"/>
              <a:t>Típicas</a:t>
            </a:r>
            <a:r>
              <a:rPr lang="en-US" b="1" dirty="0"/>
              <a:t> (</a:t>
            </a:r>
            <a:r>
              <a:rPr lang="en-US" b="1" dirty="0" err="1"/>
              <a:t>Exemplos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8F73C-98CE-7709-396E-5385971EE4A6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D95E56-8C0D-EA2F-DBFC-A30E7FA3DD95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122B93-C2B7-288D-F6B1-18A1040A8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590954"/>
              </p:ext>
            </p:extLst>
          </p:nvPr>
        </p:nvGraphicFramePr>
        <p:xfrm>
          <a:off x="838200" y="2203854"/>
          <a:ext cx="10515601" cy="3594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97593">
                  <a:extLst>
                    <a:ext uri="{9D8B030D-6E8A-4147-A177-3AD203B41FA5}">
                      <a16:colId xmlns:a16="http://schemas.microsoft.com/office/drawing/2014/main" val="2552116534"/>
                    </a:ext>
                  </a:extLst>
                </a:gridCol>
                <a:gridCol w="5018008">
                  <a:extLst>
                    <a:ext uri="{9D8B030D-6E8A-4147-A177-3AD203B41FA5}">
                      <a16:colId xmlns:a16="http://schemas.microsoft.com/office/drawing/2014/main" val="283917630"/>
                    </a:ext>
                  </a:extLst>
                </a:gridCol>
              </a:tblGrid>
              <a:tr h="718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Problema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33940" marT="146213" marB="1462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Classes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940" marR="233940" marT="146213" marB="146213" anchor="ctr"/>
                </a:tc>
                <a:extLst>
                  <a:ext uri="{0D108BD9-81ED-4DB2-BD59-A6C34878D82A}">
                    <a16:rowId xmlns:a16="http://schemas.microsoft.com/office/drawing/2014/main" val="1444290314"/>
                  </a:ext>
                </a:extLst>
              </a:tr>
              <a:tr h="718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Detecção de spam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33940" marT="146213" marB="1462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Spam / Não spam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940" marR="0" marT="146213" marB="146213" anchor="ctr"/>
                </a:tc>
                <a:extLst>
                  <a:ext uri="{0D108BD9-81ED-4DB2-BD59-A6C34878D82A}">
                    <a16:rowId xmlns:a16="http://schemas.microsoft.com/office/drawing/2014/main" val="1755793622"/>
                  </a:ext>
                </a:extLst>
              </a:tr>
              <a:tr h="718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Classificação de imagens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33940" marT="146213" marB="1462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Gato / Cão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940" marR="0" marT="146213" marB="146213" anchor="ctr"/>
                </a:tc>
                <a:extLst>
                  <a:ext uri="{0D108BD9-81ED-4DB2-BD59-A6C34878D82A}">
                    <a16:rowId xmlns:a16="http://schemas.microsoft.com/office/drawing/2014/main" val="1820484728"/>
                  </a:ext>
                </a:extLst>
              </a:tr>
              <a:tr h="718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Diagnóstico médico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33940" marT="146213" marB="1462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Positivo / Negativo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940" marR="0" marT="146213" marB="146213" anchor="ctr"/>
                </a:tc>
                <a:extLst>
                  <a:ext uri="{0D108BD9-81ED-4DB2-BD59-A6C34878D82A}">
                    <a16:rowId xmlns:a16="http://schemas.microsoft.com/office/drawing/2014/main" val="3777990573"/>
                  </a:ext>
                </a:extLst>
              </a:tr>
              <a:tr h="718976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>
                          <a:effectLst/>
                        </a:rPr>
                        <a:t>Aprovação de crédito</a:t>
                      </a:r>
                      <a:endParaRPr lang="en-BR" sz="18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33940" marT="146213" marB="1462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800" kern="100" dirty="0">
                          <a:effectLst/>
                        </a:rPr>
                        <a:t>Aprovar / Recusar</a:t>
                      </a:r>
                      <a:endParaRPr lang="en-BR" sz="18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33940" marR="0" marT="146213" marB="146213" anchor="ctr"/>
                </a:tc>
                <a:extLst>
                  <a:ext uri="{0D108BD9-81ED-4DB2-BD59-A6C34878D82A}">
                    <a16:rowId xmlns:a16="http://schemas.microsoft.com/office/drawing/2014/main" val="5370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614222-6200-E59F-995F-8D3580B38B15}"/>
              </a:ext>
            </a:extLst>
          </p:cNvPr>
          <p:cNvSpPr txBox="1"/>
          <p:nvPr/>
        </p:nvSpPr>
        <p:spPr>
          <a:xfrm>
            <a:off x="838200" y="601123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Sempre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apenas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duas classes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(0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ou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1)</a:t>
            </a:r>
            <a:endParaRPr lang="en-BR" sz="2400" dirty="0"/>
          </a:p>
        </p:txBody>
      </p:sp>
    </p:spTree>
    <p:extLst>
      <p:ext uri="{BB962C8B-B14F-4D97-AF65-F5344CB8AC3E}">
        <p14:creationId xmlns:p14="http://schemas.microsoft.com/office/powerpoint/2010/main" val="302185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83AFEEA-2192-AE49-D1F6-D0DB1792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C1AB69DD-B028-4908-9589-CC90F505C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Formato</a:t>
            </a:r>
            <a:r>
              <a:rPr lang="en-US" b="1" dirty="0"/>
              <a:t> dos </a:t>
            </a:r>
            <a:r>
              <a:rPr lang="en-US" b="1" dirty="0" err="1"/>
              <a:t>Rótulos</a:t>
            </a:r>
            <a:r>
              <a:rPr lang="en-US" b="1" dirty="0"/>
              <a:t> e </a:t>
            </a:r>
            <a:r>
              <a:rPr lang="en-US" b="1" dirty="0" err="1"/>
              <a:t>Saídas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860D0-2F48-B9C0-F425-26EC9B1B7A0D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Rótulo real (y):</a:t>
            </a: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Deve ser </a:t>
            </a: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0 ou 1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(ex: 1 = "sim", 0 = "não")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Saída do modelo (ŷ):</a:t>
            </a: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Modelo usa </a:t>
            </a: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Sigmoid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na última camada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Valor entre </a:t>
            </a: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0 e 1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(probabilidade da classe positiva)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📌 *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Exemplo: ŷ = 0.85 → 85% de chance de ser a classe 1*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D383A0-EE8D-B9C8-1D02-DAC585757BF4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18212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E0B3739-A5AE-556F-8C5C-CA08212C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CB0195F2-C9DB-274B-AAD3-E3117FD00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/>
              <a:t> </a:t>
            </a:r>
            <a:r>
              <a:rPr lang="en-US" b="1" dirty="0" err="1"/>
              <a:t>Ideia</a:t>
            </a:r>
            <a:r>
              <a:rPr lang="en-US" b="1" dirty="0"/>
              <a:t> </a:t>
            </a:r>
            <a:r>
              <a:rPr lang="en-US" b="1" dirty="0" err="1"/>
              <a:t>Intuitiva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D67820-5539-75EF-ABA6-D4312D604A10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F34E76-3D84-2370-DA10-8C6538302121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7D1FC8-AFB4-C000-52D2-AD3BBE867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10778"/>
              </p:ext>
            </p:extLst>
          </p:nvPr>
        </p:nvGraphicFramePr>
        <p:xfrm>
          <a:off x="1104053" y="1595961"/>
          <a:ext cx="9983894" cy="34608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91947">
                  <a:extLst>
                    <a:ext uri="{9D8B030D-6E8A-4147-A177-3AD203B41FA5}">
                      <a16:colId xmlns:a16="http://schemas.microsoft.com/office/drawing/2014/main" val="1494422498"/>
                    </a:ext>
                  </a:extLst>
                </a:gridCol>
                <a:gridCol w="4991947">
                  <a:extLst>
                    <a:ext uri="{9D8B030D-6E8A-4147-A177-3AD203B41FA5}">
                      <a16:colId xmlns:a16="http://schemas.microsoft.com/office/drawing/2014/main" val="2418649327"/>
                    </a:ext>
                  </a:extLst>
                </a:gridCol>
              </a:tblGrid>
              <a:tr h="85869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 dirty="0">
                          <a:effectLst/>
                        </a:rPr>
                        <a:t>Se o rótulo real é 1...</a:t>
                      </a:r>
                      <a:endParaRPr lang="en-BR" sz="2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79400" marT="174625" marB="174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>
                          <a:effectLst/>
                        </a:rPr>
                        <a:t>Se o rótulo real é 0...</a:t>
                      </a:r>
                      <a:endParaRPr lang="en-BR" sz="2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9400" marR="279400" marT="174625" marB="174625" anchor="ctr"/>
                </a:tc>
                <a:extLst>
                  <a:ext uri="{0D108BD9-81ED-4DB2-BD59-A6C34878D82A}">
                    <a16:rowId xmlns:a16="http://schemas.microsoft.com/office/drawing/2014/main" val="4075121905"/>
                  </a:ext>
                </a:extLst>
              </a:tr>
              <a:tr h="13010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>
                          <a:effectLst/>
                        </a:rPr>
                        <a:t>Queremos ŷ próximo de 1</a:t>
                      </a:r>
                      <a:endParaRPr lang="en-BR" sz="2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79400" marT="174625" marB="174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>
                          <a:effectLst/>
                        </a:rPr>
                        <a:t>Queremos ŷ próximo de 0</a:t>
                      </a:r>
                      <a:endParaRPr lang="en-BR" sz="2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9400" marR="0" marT="174625" marB="174625" anchor="ctr"/>
                </a:tc>
                <a:extLst>
                  <a:ext uri="{0D108BD9-81ED-4DB2-BD59-A6C34878D82A}">
                    <a16:rowId xmlns:a16="http://schemas.microsoft.com/office/drawing/2014/main" val="3401342060"/>
                  </a:ext>
                </a:extLst>
              </a:tr>
              <a:tr h="130107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>
                          <a:effectLst/>
                        </a:rPr>
                        <a:t>Quanto mais perto, menor a perda</a:t>
                      </a:r>
                      <a:endParaRPr lang="en-BR" sz="2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79400" marT="174625" marB="174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3300" kern="100" dirty="0">
                          <a:effectLst/>
                        </a:rPr>
                        <a:t>Quanto mais perto, menor a perda</a:t>
                      </a:r>
                      <a:endParaRPr lang="en-BR" sz="2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79400" marR="0" marT="174625" marB="174625" anchor="ctr"/>
                </a:tc>
                <a:extLst>
                  <a:ext uri="{0D108BD9-81ED-4DB2-BD59-A6C34878D82A}">
                    <a16:rowId xmlns:a16="http://schemas.microsoft.com/office/drawing/2014/main" val="3815956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D63694-F904-AA95-262A-29E362BB1B8E}"/>
              </a:ext>
            </a:extLst>
          </p:cNvPr>
          <p:cNvSpPr txBox="1"/>
          <p:nvPr/>
        </p:nvSpPr>
        <p:spPr>
          <a:xfrm>
            <a:off x="1104053" y="5867403"/>
            <a:ext cx="81488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b="0" i="0" dirty="0">
                <a:solidFill>
                  <a:srgbClr val="0F1115"/>
                </a:solidFill>
                <a:effectLst/>
                <a:latin typeface="quote-cjk-patch"/>
              </a:rPr>
              <a:t>📌</a:t>
            </a: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A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função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"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castiga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"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previsões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erradas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com </a:t>
            </a:r>
            <a:r>
              <a:rPr lang="en-US" sz="2400" b="0" i="1" dirty="0" err="1">
                <a:solidFill>
                  <a:srgbClr val="0F1115"/>
                </a:solidFill>
                <a:effectLst/>
                <a:latin typeface="quote-cjk-patch"/>
              </a:rPr>
              <a:t>valores</a:t>
            </a:r>
            <a:r>
              <a:rPr lang="en-US" sz="2400" b="0" i="1" dirty="0">
                <a:solidFill>
                  <a:srgbClr val="0F1115"/>
                </a:solidFill>
                <a:effectLst/>
                <a:latin typeface="quote-cjk-patch"/>
              </a:rPr>
              <a:t> altos de loss</a:t>
            </a:r>
            <a:endParaRPr lang="en-BR" sz="2400" dirty="0"/>
          </a:p>
        </p:txBody>
      </p:sp>
    </p:spTree>
    <p:extLst>
      <p:ext uri="{BB962C8B-B14F-4D97-AF65-F5344CB8AC3E}">
        <p14:creationId xmlns:p14="http://schemas.microsoft.com/office/powerpoint/2010/main" val="43212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7B56702-D4D2-9194-C8BA-A4DC8C6BE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520FBE84-0DE2-5E3F-C84D-2FFACC57A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Fórmula</a:t>
            </a:r>
            <a:r>
              <a:rPr lang="en-US" b="1" dirty="0"/>
              <a:t> </a:t>
            </a:r>
            <a:r>
              <a:rPr lang="en-US" b="1" dirty="0" err="1"/>
              <a:t>Matemática</a:t>
            </a:r>
            <a:r>
              <a:rPr lang="en-US" b="1" dirty="0"/>
              <a:t> (Um </a:t>
            </a:r>
            <a:r>
              <a:rPr lang="en-US" b="1" dirty="0" err="1"/>
              <a:t>Exemplo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34808-D724-679C-A25D-BD88488DBD56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Para um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único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exemplo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endParaRPr lang="en-US" sz="2400" b="0" i="0" dirty="0">
              <a:solidFill>
                <a:srgbClr val="0F1115"/>
              </a:solidFill>
              <a:effectLst/>
              <a:latin typeface="KaTeX_Main"/>
            </a:endParaRPr>
          </a:p>
          <a:p>
            <a:r>
              <a:rPr lang="zh-CN" altLang="en-US" sz="2400" dirty="0">
                <a:solidFill>
                  <a:srgbClr val="0F1115"/>
                </a:solidFill>
                <a:latin typeface="KaTeX_Main"/>
              </a:rPr>
              <a:t>                   </a:t>
            </a:r>
            <a:r>
              <a:rPr lang="en-US" sz="2800" b="0" i="1" dirty="0">
                <a:solidFill>
                  <a:srgbClr val="0F1115"/>
                </a:solidFill>
                <a:effectLst/>
                <a:latin typeface="KaTeX_Main"/>
              </a:rPr>
              <a:t>Loss=−[</a:t>
            </a:r>
            <a:r>
              <a:rPr lang="en-US" sz="2800" b="0" i="1" dirty="0" err="1">
                <a:solidFill>
                  <a:srgbClr val="0F1115"/>
                </a:solidFill>
                <a:effectLst/>
                <a:latin typeface="KaTeX_Main"/>
              </a:rPr>
              <a:t>ylog</a:t>
            </a:r>
            <a:r>
              <a:rPr lang="en-US" sz="2800" b="0" i="1" dirty="0">
                <a:solidFill>
                  <a:srgbClr val="0F1115"/>
                </a:solidFill>
                <a:effectLst/>
                <a:latin typeface="KaTeX_Main"/>
              </a:rPr>
              <a:t>⁡(</a:t>
            </a:r>
            <a:r>
              <a:rPr lang="cy-GB" sz="2800" b="0" i="0" dirty="0">
                <a:solidFill>
                  <a:srgbClr val="0F1115"/>
                </a:solidFill>
                <a:effectLst/>
                <a:latin typeface="quote-cjk-patch"/>
              </a:rPr>
              <a:t>ŷ</a:t>
            </a:r>
            <a:r>
              <a:rPr lang="en-US" sz="2800" b="0" i="1" dirty="0">
                <a:solidFill>
                  <a:srgbClr val="0F1115"/>
                </a:solidFill>
                <a:effectLst/>
                <a:latin typeface="KaTeX_Main"/>
              </a:rPr>
              <a:t>)+(1−y)log⁡(1−</a:t>
            </a:r>
            <a:r>
              <a:rPr lang="cy-GB" sz="2800" b="0" i="0" dirty="0">
                <a:solidFill>
                  <a:srgbClr val="0F1115"/>
                </a:solidFill>
                <a:effectLst/>
                <a:latin typeface="quote-cjk-patch"/>
              </a:rPr>
              <a:t> ŷ</a:t>
            </a:r>
            <a:r>
              <a:rPr lang="en-US" sz="2800" b="0" i="1" dirty="0">
                <a:solidFill>
                  <a:srgbClr val="0F1115"/>
                </a:solidFill>
                <a:effectLst/>
                <a:latin typeface="KaTeX_Main"/>
              </a:rPr>
              <a:t>)]</a:t>
            </a:r>
          </a:p>
          <a:p>
            <a:endParaRPr lang="en-US" sz="2800" i="1" dirty="0">
              <a:solidFill>
                <a:srgbClr val="0F1115"/>
              </a:solidFill>
              <a:latin typeface="KaTeX_Main"/>
            </a:endParaRPr>
          </a:p>
          <a:p>
            <a:endParaRPr lang="cy-GB" sz="2400" b="0" i="1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C558B-A2FC-A681-DFAF-2912D1C678F4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DC6C6E-1663-B328-39A9-6629DFF4D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923790"/>
              </p:ext>
            </p:extLst>
          </p:nvPr>
        </p:nvGraphicFramePr>
        <p:xfrm>
          <a:off x="1052945" y="3353594"/>
          <a:ext cx="8624456" cy="1328992"/>
        </p:xfrm>
        <a:graphic>
          <a:graphicData uri="http://schemas.openxmlformats.org/drawingml/2006/table">
            <a:tbl>
              <a:tblPr/>
              <a:tblGrid>
                <a:gridCol w="4312228">
                  <a:extLst>
                    <a:ext uri="{9D8B030D-6E8A-4147-A177-3AD203B41FA5}">
                      <a16:colId xmlns:a16="http://schemas.microsoft.com/office/drawing/2014/main" val="813201849"/>
                    </a:ext>
                  </a:extLst>
                </a:gridCol>
                <a:gridCol w="4312228">
                  <a:extLst>
                    <a:ext uri="{9D8B030D-6E8A-4147-A177-3AD203B41FA5}">
                      <a16:colId xmlns:a16="http://schemas.microsoft.com/office/drawing/2014/main" val="19944185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Onde: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Significado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7833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 dirty="0">
                          <a:effectLst/>
                          <a:latin typeface="KaTeX_Main"/>
                        </a:rPr>
                        <a:t>y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Rótulo verdadeiro (0 ou 1)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18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cy-GB" sz="2400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ŷ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sz="2000" b="0" dirty="0" err="1">
                          <a:effectLst/>
                          <a:latin typeface="quote-cjk-patch"/>
                        </a:rPr>
                        <a:t>Previsão</a:t>
                      </a:r>
                      <a:r>
                        <a:rPr lang="en-US" sz="2000" b="0" dirty="0">
                          <a:effectLst/>
                          <a:latin typeface="quote-cjk-patch"/>
                        </a:rPr>
                        <a:t> do </a:t>
                      </a:r>
                      <a:r>
                        <a:rPr lang="en-US" sz="2000" b="0" dirty="0" err="1">
                          <a:effectLst/>
                          <a:latin typeface="quote-cjk-patch"/>
                        </a:rPr>
                        <a:t>modelo</a:t>
                      </a:r>
                      <a:r>
                        <a:rPr lang="en-US" sz="2000" b="0" dirty="0">
                          <a:effectLst/>
                          <a:latin typeface="quote-cjk-patch"/>
                        </a:rPr>
                        <a:t> (entre 0 e 1)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496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7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EAE9543-F098-F983-F77C-771952A1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704CFE4-0EF9-5BD0-6CA6-EB885DC97A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</a:t>
            </a:r>
            <a:r>
              <a:rPr lang="en-US" b="1" dirty="0" err="1"/>
              <a:t>Numérico</a:t>
            </a:r>
            <a:r>
              <a:rPr lang="en-US" b="1" dirty="0"/>
              <a:t> (Caso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29A45-62AF-7853-6FAD-AECECFAE176E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Exemplo: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y = 1, ŷ = 0.9 (previsão boa)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Loss=−[1⋅log⁡(0.9)+0⋅log⁡(0.1)]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Loss=−log⁡(0.9)≈0.105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dirty="0">
              <a:solidFill>
                <a:srgbClr val="0F1115"/>
              </a:solidFill>
              <a:latin typeface="KaTeX_Main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Perda </a:t>
            </a: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baixa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(boa previsão)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7C7799-891F-9D38-A638-305C37D9596D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5818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2414BC3-9FC7-32C8-FB91-6ED4D6D4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99A138C2-135E-A877-D017-B35835DF8F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</a:t>
            </a:r>
            <a:r>
              <a:rPr lang="en-US" b="1" dirty="0" err="1"/>
              <a:t>Numérico</a:t>
            </a:r>
            <a:r>
              <a:rPr lang="en-US" b="1" dirty="0"/>
              <a:t> (Caso 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59B7-A3A2-0EAD-1982-9873B9C82026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Exemplo: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y = 1, ŷ = 0.</a:t>
            </a:r>
            <a:r>
              <a:rPr lang="en-US" altLang="zh-CN" sz="2400" b="0" i="0" dirty="0">
                <a:solidFill>
                  <a:srgbClr val="0F1115"/>
                </a:solidFill>
                <a:effectLst/>
                <a:latin typeface="quote-cjk-patch"/>
              </a:rPr>
              <a:t>1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 (previsão </a:t>
            </a:r>
            <a:r>
              <a:rPr lang="cy-GB" sz="2400" dirty="0">
                <a:solidFill>
                  <a:srgbClr val="0F1115"/>
                </a:solidFill>
                <a:latin typeface="quote-cjk-patch"/>
              </a:rPr>
              <a:t>muito errado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Loss=−[1⋅log⁡(0.1)+0⋅log⁡(0.9)]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Loss=−log⁡(0.1)≈2.302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dirty="0">
              <a:solidFill>
                <a:srgbClr val="0F1115"/>
              </a:solidFill>
              <a:latin typeface="KaTeX_Main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❌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alta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(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má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previsão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cy-GB" sz="2400" dirty="0">
              <a:solidFill>
                <a:srgbClr val="0F1115"/>
              </a:solidFill>
              <a:latin typeface="KaTeX_Main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E766BD-4D64-916E-153E-C178B9CCAF2E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281374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97D44D7-A86F-B592-74A3-72B8E213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180546B-8202-5E46-7CE1-BC02BF560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Exemplo</a:t>
            </a:r>
            <a:r>
              <a:rPr lang="en-US" b="1" dirty="0"/>
              <a:t> </a:t>
            </a:r>
            <a:r>
              <a:rPr lang="en-US" b="1" dirty="0" err="1"/>
              <a:t>Numérico</a:t>
            </a:r>
            <a:r>
              <a:rPr lang="en-US" b="1" dirty="0"/>
              <a:t> (Caso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BD880-0ED0-3C46-882C-C155BA4C0ABB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cy-GB" sz="2400" b="1" i="0" dirty="0">
                <a:solidFill>
                  <a:srgbClr val="0F1115"/>
                </a:solidFill>
                <a:effectLst/>
                <a:latin typeface="quote-cjk-patch"/>
              </a:rPr>
              <a:t>Exemplo: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 y = 0, ŷ = 0.</a:t>
            </a:r>
            <a:r>
              <a:rPr lang="en-US" sz="2400" dirty="0">
                <a:solidFill>
                  <a:srgbClr val="0F1115"/>
                </a:solidFill>
                <a:latin typeface="quote-cjk-patch"/>
              </a:rPr>
              <a:t>2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 (previsão </a:t>
            </a:r>
            <a:r>
              <a:rPr lang="cy-GB" sz="2400" dirty="0">
                <a:solidFill>
                  <a:srgbClr val="0F1115"/>
                </a:solidFill>
                <a:latin typeface="quote-cjk-patch"/>
              </a:rPr>
              <a:t>boa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Loss=−[0⋅log⁡(0.2)+</a:t>
            </a:r>
            <a:r>
              <a:rPr lang="cy-GB" sz="2400" dirty="0">
                <a:solidFill>
                  <a:srgbClr val="0F1115"/>
                </a:solidFill>
                <a:latin typeface="KaTeX_Main"/>
              </a:rPr>
              <a:t>1</a:t>
            </a: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⋅log⁡(0.8)]</a:t>
            </a:r>
          </a:p>
          <a:p>
            <a:pPr lvl="2">
              <a:spcBef>
                <a:spcPts val="1200"/>
              </a:spcBef>
              <a:spcAft>
                <a:spcPts val="1200"/>
              </a:spcAft>
            </a:pPr>
            <a:r>
              <a:rPr lang="cy-GB" sz="2400" b="0" i="0" dirty="0">
                <a:solidFill>
                  <a:srgbClr val="0F1115"/>
                </a:solidFill>
                <a:effectLst/>
                <a:latin typeface="KaTeX_Main"/>
              </a:rPr>
              <a:t>Loss=−log⁡(0.8)≈0.223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dirty="0">
              <a:solidFill>
                <a:srgbClr val="0F1115"/>
              </a:solidFill>
              <a:latin typeface="KaTeX_Main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BR" sz="2400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Perda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baixa</a:t>
            </a: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43FFF3-14FA-4D69-0E20-4772F5894FFB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58084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CF85B48-D16A-8FED-BC51-46A9B802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75E562F-5D51-AB0F-2661-B85ABA762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Média</a:t>
            </a:r>
            <a:r>
              <a:rPr lang="en-US" b="1" dirty="0"/>
              <a:t> para um </a:t>
            </a:r>
            <a:r>
              <a:rPr lang="en-US" b="1" dirty="0" err="1"/>
              <a:t>Lote</a:t>
            </a:r>
            <a:r>
              <a:rPr lang="en-US" b="1" dirty="0"/>
              <a:t> (Batch)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CC8872-57A6-541D-FA0A-2C8FF955583D}"/>
                  </a:ext>
                </a:extLst>
              </p:cNvPr>
              <p:cNvSpPr txBox="1"/>
              <p:nvPr/>
            </p:nvSpPr>
            <p:spPr>
              <a:xfrm>
                <a:off x="166254" y="1346657"/>
                <a:ext cx="10860975" cy="452074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Quando </a:t>
                </a:r>
                <a:r>
                  <a:rPr lang="en-US" sz="2400" b="0" i="0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temos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400" b="1" i="0" dirty="0">
                    <a:solidFill>
                      <a:srgbClr val="0F1115"/>
                    </a:solidFill>
                    <a:effectLst/>
                    <a:latin typeface="quote-cjk-patch"/>
                  </a:rPr>
                  <a:t>n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 </a:t>
                </a:r>
                <a:r>
                  <a:rPr lang="en-US" sz="2400" b="0" i="0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exemplos</a:t>
                </a:r>
                <a:r>
                  <a:rPr lang="en-US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:</a:t>
                </a: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endParaRPr lang="en-US" sz="24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  <a:p>
                <a:r>
                  <a:rPr lang="en-US" sz="2400" dirty="0">
                    <a:solidFill>
                      <a:srgbClr val="0F1115"/>
                    </a:solidFill>
                    <a:latin typeface="KaTeX_Main"/>
                  </a:rPr>
                  <a:t>	</a:t>
                </a:r>
                <a:r>
                  <a:rPr lang="en-US" sz="2800" dirty="0">
                    <a:solidFill>
                      <a:srgbClr val="0F1115"/>
                    </a:solidFill>
                    <a:latin typeface="KaTeX_Main"/>
                  </a:rPr>
                  <a:t>Loss=−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i="1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i="1">
                            <a:solidFill>
                              <a:srgbClr val="0F111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pt-BR" sz="2800" i="1">
                        <a:solidFill>
                          <a:srgbClr val="0F1115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𝑦𝑖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cy-GB" sz="2800" i="1" dirty="0">
                                <a:solidFill>
                                  <a:srgbClr val="0F1115"/>
                                </a:solidFill>
                                <a:latin typeface="quote-cjk-patch"/>
                              </a:rPr>
                              <m:t>ŷ</m:t>
                            </m:r>
                            <m:r>
                              <a:rPr lang="pt-BR" sz="28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𝑦𝑖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⁡(1−</m:t>
                        </m:r>
                        <m:r>
                          <m:rPr>
                            <m:nor/>
                          </m:rPr>
                          <a:rPr lang="cy-GB" sz="2800" i="1" dirty="0">
                            <a:solidFill>
                              <a:srgbClr val="0F1115"/>
                            </a:solidFill>
                            <a:latin typeface="quote-cjk-patch"/>
                          </a:rPr>
                          <m:t>ŷ</m:t>
                        </m:r>
                        <m:r>
                          <a:rPr lang="pt-BR" sz="2800" b="0" i="1" baseline="-2500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)]</m:t>
                        </m:r>
                      </m:e>
                    </m:nary>
                  </m:oMath>
                </a14:m>
                <a:br>
                  <a:rPr lang="en-US" sz="2400" dirty="0"/>
                </a:br>
                <a:endParaRPr lang="cy-GB" sz="2400" dirty="0">
                  <a:solidFill>
                    <a:srgbClr val="0F1115"/>
                  </a:solidFill>
                  <a:latin typeface="KaTeX_Main"/>
                </a:endParaRPr>
              </a:p>
              <a:p>
                <a:pPr algn="l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BR" sz="2400" b="0" i="0" dirty="0">
                    <a:solidFill>
                      <a:srgbClr val="0F1115"/>
                    </a:solidFill>
                    <a:effectLst/>
                    <a:latin typeface="quote-cjk-patch"/>
                  </a:rPr>
                  <a:t>📌 </a:t>
                </a:r>
                <a:r>
                  <a:rPr lang="en-US" sz="2400" b="0" i="1" dirty="0">
                    <a:solidFill>
                      <a:srgbClr val="0F1115"/>
                    </a:solidFill>
                    <a:effectLst/>
                    <a:latin typeface="quote-cjk-patch"/>
                  </a:rPr>
                  <a:t>Este </a:t>
                </a:r>
                <a:r>
                  <a:rPr lang="en-US" sz="2400" b="0" i="1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é</a:t>
                </a:r>
                <a:r>
                  <a:rPr lang="en-US" sz="2400" b="0" i="1" dirty="0">
                    <a:solidFill>
                      <a:srgbClr val="0F1115"/>
                    </a:solidFill>
                    <a:effectLst/>
                    <a:latin typeface="quote-cjk-patch"/>
                  </a:rPr>
                  <a:t> o </a:t>
                </a:r>
                <a:r>
                  <a:rPr lang="en-US" sz="2400" b="0" i="1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comportamento</a:t>
                </a:r>
                <a:r>
                  <a:rPr lang="en-US" sz="2400" b="0" i="1" dirty="0">
                    <a:solidFill>
                      <a:srgbClr val="0F1115"/>
                    </a:solidFill>
                    <a:effectLst/>
                    <a:latin typeface="quote-cjk-patch"/>
                  </a:rPr>
                  <a:t> </a:t>
                </a:r>
                <a:r>
                  <a:rPr lang="en-US" sz="2400" b="0" i="1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padrão</a:t>
                </a:r>
                <a:r>
                  <a:rPr lang="en-US" sz="2400" b="0" i="1" dirty="0">
                    <a:solidFill>
                      <a:srgbClr val="0F1115"/>
                    </a:solidFill>
                    <a:effectLst/>
                    <a:latin typeface="quote-cjk-patch"/>
                  </a:rPr>
                  <a:t> no </a:t>
                </a:r>
                <a:r>
                  <a:rPr lang="en-US" sz="2400" b="0" i="1" dirty="0" err="1">
                    <a:solidFill>
                      <a:srgbClr val="0F1115"/>
                    </a:solidFill>
                    <a:effectLst/>
                    <a:latin typeface="quote-cjk-patch"/>
                  </a:rPr>
                  <a:t>Keras</a:t>
                </a:r>
                <a:r>
                  <a:rPr lang="en-US" sz="2400" b="0" i="1" dirty="0">
                    <a:solidFill>
                      <a:srgbClr val="0F1115"/>
                    </a:solidFill>
                    <a:effectLst/>
                    <a:latin typeface="quote-cjk-patch"/>
                  </a:rPr>
                  <a:t> / TensorFlow</a:t>
                </a:r>
                <a:endParaRPr lang="cy-GB" sz="2400" b="0" i="0" dirty="0">
                  <a:solidFill>
                    <a:srgbClr val="0F1115"/>
                  </a:solidFill>
                  <a:effectLst/>
                  <a:latin typeface="quote-cjk-patch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9CC8872-57A6-541D-FA0A-2C8FF9555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4" y="1346657"/>
                <a:ext cx="10860975" cy="4520746"/>
              </a:xfrm>
              <a:prstGeom prst="rect">
                <a:avLst/>
              </a:prstGeom>
              <a:blipFill>
                <a:blip r:embed="rId2"/>
                <a:stretch>
                  <a:fillRect l="-817" t="-1120"/>
                </a:stretch>
              </a:blipFill>
            </p:spPr>
            <p:txBody>
              <a:bodyPr/>
              <a:lstStyle/>
              <a:p>
                <a:r>
                  <a:rPr lang="en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F408077E-42F1-2114-1A1E-A58EC9C15FCB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363429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BFAC31D-9B4D-0D4A-C5CF-EACC1A27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1255372D-A38E-46A9-F68E-44C87219E4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/>
              <a:t> </a:t>
            </a:r>
            <a:r>
              <a:rPr lang="en-US" b="1" dirty="0" err="1"/>
              <a:t>Comparação</a:t>
            </a:r>
            <a:r>
              <a:rPr lang="en-US" b="1" dirty="0"/>
              <a:t> com Categorical </a:t>
            </a:r>
            <a:r>
              <a:rPr lang="en-US" b="1" dirty="0" err="1"/>
              <a:t>Crossentropy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DC50C3-6871-A9F6-F18F-4AC12FA5CE99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endParaRPr lang="cy-GB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CF8BF-4D93-4EE0-AF47-8B8503A8B87A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1925FB2-08A7-B23A-8FB1-F9ACED173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003828"/>
              </p:ext>
            </p:extLst>
          </p:nvPr>
        </p:nvGraphicFramePr>
        <p:xfrm>
          <a:off x="1012830" y="1825625"/>
          <a:ext cx="10166343" cy="43513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88781">
                  <a:extLst>
                    <a:ext uri="{9D8B030D-6E8A-4147-A177-3AD203B41FA5}">
                      <a16:colId xmlns:a16="http://schemas.microsoft.com/office/drawing/2014/main" val="2747335865"/>
                    </a:ext>
                  </a:extLst>
                </a:gridCol>
                <a:gridCol w="3388781">
                  <a:extLst>
                    <a:ext uri="{9D8B030D-6E8A-4147-A177-3AD203B41FA5}">
                      <a16:colId xmlns:a16="http://schemas.microsoft.com/office/drawing/2014/main" val="2199885069"/>
                    </a:ext>
                  </a:extLst>
                </a:gridCol>
                <a:gridCol w="3388781">
                  <a:extLst>
                    <a:ext uri="{9D8B030D-6E8A-4147-A177-3AD203B41FA5}">
                      <a16:colId xmlns:a16="http://schemas.microsoft.com/office/drawing/2014/main" val="1539157175"/>
                    </a:ext>
                  </a:extLst>
                </a:gridCol>
              </a:tblGrid>
              <a:tr h="10072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Característica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Binary Crossentropy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Categorical Crossentropy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extLst>
                  <a:ext uri="{0D108BD9-81ED-4DB2-BD59-A6C34878D82A}">
                    <a16:rowId xmlns:a16="http://schemas.microsoft.com/office/drawing/2014/main" val="2733694918"/>
                  </a:ext>
                </a:extLst>
              </a:tr>
              <a:tr h="10072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Número de classes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2 (apenas duas)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3 ou mais (ex: 10 dígitos)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0" marT="135191" marB="135191" anchor="ctr"/>
                </a:tc>
                <a:extLst>
                  <a:ext uri="{0D108BD9-81ED-4DB2-BD59-A6C34878D82A}">
                    <a16:rowId xmlns:a16="http://schemas.microsoft.com/office/drawing/2014/main" val="1638235086"/>
                  </a:ext>
                </a:extLst>
              </a:tr>
              <a:tr h="6647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Ativação final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Sigmoid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Softmax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0" marT="135191" marB="135191" anchor="ctr"/>
                </a:tc>
                <a:extLst>
                  <a:ext uri="{0D108BD9-81ED-4DB2-BD59-A6C34878D82A}">
                    <a16:rowId xmlns:a16="http://schemas.microsoft.com/office/drawing/2014/main" val="1303328814"/>
                  </a:ext>
                </a:extLst>
              </a:tr>
              <a:tr h="100726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Soma das probabilidades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Não precisa ser 1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Sempre soma 1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0" marT="135191" marB="135191" anchor="ctr"/>
                </a:tc>
                <a:extLst>
                  <a:ext uri="{0D108BD9-81ED-4DB2-BD59-A6C34878D82A}">
                    <a16:rowId xmlns:a16="http://schemas.microsoft.com/office/drawing/2014/main" val="1080682204"/>
                  </a:ext>
                </a:extLst>
              </a:tr>
              <a:tr h="6647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Exemplo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>
                          <a:effectLst/>
                        </a:rPr>
                        <a:t>Spam (Sim/Não)</a:t>
                      </a:r>
                      <a:endParaRPr lang="en-BR" sz="17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216305" marT="135191" marB="13519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BR" sz="2600" kern="100" dirty="0">
                          <a:effectLst/>
                        </a:rPr>
                        <a:t>Dígitos MNIST (0–9)</a:t>
                      </a:r>
                      <a:endParaRPr lang="en-BR" sz="17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16305" marR="0" marT="135191" marB="135191" anchor="ctr"/>
                </a:tc>
                <a:extLst>
                  <a:ext uri="{0D108BD9-81ED-4DB2-BD59-A6C34878D82A}">
                    <a16:rowId xmlns:a16="http://schemas.microsoft.com/office/drawing/2014/main" val="1628372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18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1CD8063-BE7B-6683-6CE0-5725A275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D9494529-885F-CC78-FE53-3009C0794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14751"/>
            <a:ext cx="11375571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/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b="1" dirty="0" err="1"/>
              <a:t>Resumo</a:t>
            </a:r>
            <a:r>
              <a:rPr lang="en-US" b="1" dirty="0"/>
              <a:t> Final (Binary </a:t>
            </a:r>
            <a:r>
              <a:rPr lang="en-US" b="1" dirty="0" err="1"/>
              <a:t>Crossentropy</a:t>
            </a:r>
            <a:r>
              <a:rPr lang="en-US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21AED7-7445-8B66-F0EC-28132405B939}"/>
              </a:ext>
            </a:extLst>
          </p:cNvPr>
          <p:cNvSpPr txBox="1"/>
          <p:nvPr/>
        </p:nvSpPr>
        <p:spPr>
          <a:xfrm>
            <a:off x="166254" y="1346657"/>
            <a:ext cx="10860975" cy="4520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É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escolha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padrão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para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classificação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binária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Compara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a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probabilidade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prevista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com o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rótulo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verdadeiro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(0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ou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1)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Quanto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menor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 valor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melhor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 o </a:t>
            </a:r>
            <a:r>
              <a:rPr lang="en-US" sz="2400" b="1" i="0" dirty="0" err="1">
                <a:solidFill>
                  <a:srgbClr val="0F1115"/>
                </a:solidFill>
                <a:effectLst/>
                <a:latin typeface="quote-cjk-patch"/>
              </a:rPr>
              <a:t>modelo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Usa </a:t>
            </a:r>
            <a:r>
              <a:rPr lang="en-US" sz="2400" b="1" i="0" dirty="0">
                <a:solidFill>
                  <a:srgbClr val="0F1115"/>
                </a:solidFill>
                <a:effectLst/>
                <a:latin typeface="quote-cjk-patch"/>
              </a:rPr>
              <a:t>Sigmoid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na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camada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saída</a:t>
            </a: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Fácil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de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implementar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no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Keras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b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</a:br>
            <a:r>
              <a:rPr lang="en-US" sz="2400" b="0" i="0" dirty="0" err="1">
                <a:solidFill>
                  <a:srgbClr val="0F1115"/>
                </a:solidFill>
                <a:effectLst/>
                <a:latin typeface="quote-cjk-patch"/>
              </a:rPr>
              <a:t>keras.losses.BinaryCrossentropy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CFD19B-076B-3507-23B0-85C921BE63B4}"/>
              </a:ext>
            </a:extLst>
          </p:cNvPr>
          <p:cNvSpPr txBox="1"/>
          <p:nvPr/>
        </p:nvSpPr>
        <p:spPr>
          <a:xfrm>
            <a:off x="10047514" y="2253343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23473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47" y="5469724"/>
            <a:ext cx="3431078" cy="1182968"/>
          </a:xfrm>
          <a:prstGeom prst="rect">
            <a:avLst/>
          </a:prstGeom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67A953C-4D8E-407E-8262-AC6BA67AD583}"/>
              </a:ext>
            </a:extLst>
          </p:cNvPr>
          <p:cNvSpPr txBox="1">
            <a:spLocks/>
          </p:cNvSpPr>
          <p:nvPr/>
        </p:nvSpPr>
        <p:spPr>
          <a:xfrm>
            <a:off x="4550978" y="578070"/>
            <a:ext cx="7336222" cy="2385848"/>
          </a:xfrm>
          <a:prstGeom prst="rect">
            <a:avLst/>
          </a:prstGeom>
          <a:gradFill flip="none" rotWithShape="1">
            <a:gsLst>
              <a:gs pos="0">
                <a:srgbClr val="996633">
                  <a:shade val="30000"/>
                  <a:satMod val="115000"/>
                </a:srgbClr>
              </a:gs>
              <a:gs pos="50000">
                <a:srgbClr val="996633">
                  <a:shade val="67500"/>
                  <a:satMod val="115000"/>
                </a:srgbClr>
              </a:gs>
              <a:gs pos="100000">
                <a:srgbClr val="996633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pt-BR" sz="5400" dirty="0">
                <a:solidFill>
                  <a:schemeClr val="bg1"/>
                </a:solidFill>
                <a:latin typeface="HP Simplified" panose="020B0604020204020204" pitchFamily="34" charset="0"/>
              </a:rPr>
              <a:t>Capacitação Inovadora para o Futuro das Pessoas e Organizações</a:t>
            </a:r>
          </a:p>
          <a:p>
            <a:endParaRPr lang="pt-BR" sz="2400" dirty="0">
              <a:solidFill>
                <a:schemeClr val="bg1"/>
              </a:solidFill>
              <a:latin typeface="HP Simplified" panose="020B0604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321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Finatec">
      <a:dk1>
        <a:srgbClr val="2E495E"/>
      </a:dk1>
      <a:lt1>
        <a:sysClr val="window" lastClr="FFFFFF"/>
      </a:lt1>
      <a:dk2>
        <a:srgbClr val="2E495E"/>
      </a:dk2>
      <a:lt2>
        <a:srgbClr val="9F9D9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rm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53173</TotalTime>
  <Words>3201</Words>
  <Application>Microsoft Macintosh PowerPoint</Application>
  <PresentationFormat>Widescreen</PresentationFormat>
  <Paragraphs>339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Encode Sans</vt:lpstr>
      <vt:lpstr>HP Simplified</vt:lpstr>
      <vt:lpstr>KaTeX_Main</vt:lpstr>
      <vt:lpstr>quote-cjk-patch</vt:lpstr>
      <vt:lpstr>Aptos</vt:lpstr>
      <vt:lpstr>Arial</vt:lpstr>
      <vt:lpstr>Calibri</vt:lpstr>
      <vt:lpstr>Cambria Math</vt:lpstr>
      <vt:lpstr>Times New Roman</vt:lpstr>
      <vt:lpstr>Tema do Office</vt:lpstr>
      <vt:lpstr> PPGI2221 - INTELIGÊNCIA ARTIFICIAL 1  Turma 01, 01/2026</vt:lpstr>
      <vt:lpstr>Lógica de predicados de 1ª ordem</vt:lpstr>
      <vt:lpstr>BERT - Bidirectional Encoder Representation from Transformers</vt:lpstr>
      <vt:lpstr>Sumário</vt:lpstr>
      <vt:lpstr>O que é BERT</vt:lpstr>
      <vt:lpstr>BERT paper</vt:lpstr>
      <vt:lpstr>Vantagens principais</vt:lpstr>
      <vt:lpstr>Estrutura do BERT: MLM</vt:lpstr>
      <vt:lpstr>Estrutura do BERT: Uma vez que a estrutura detalhada do Transformer é ocultada, podemos representá-lo como uma caixa preta com apenas entrada e saída:</vt:lpstr>
      <vt:lpstr>Além disso, as estruturas Transformer podem ser empilhadas para formar uma rede neural mais profunda (isso também pode ser entendido como empilhamento de codificadores Transformer):</vt:lpstr>
      <vt:lpstr>Finalmente, após o empilhamento de múltiplas camadas de estruturas Transformer, a estrutura principal do BERT é formada:</vt:lpstr>
      <vt:lpstr>Finalmente, após o empilhamento de múltiplas camadas de estruturas Transformer, a estrutura principal do BERT é formada: A estrutura do BERT pode variar ligeiramente para diferentes tarefas subsequentes, portanto, apresentaremos a estrutura do modelo apenas na fase de pré-treinamento.</vt:lpstr>
      <vt:lpstr>1.1 Entrada BERT</vt:lpstr>
      <vt:lpstr>PowerPoint Presentation</vt:lpstr>
      <vt:lpstr>PowerPoint Presentation</vt:lpstr>
      <vt:lpstr>1.2 Saída do BERT</vt:lpstr>
      <vt:lpstr>2. Tarefas de Pré-treinamento do BERT</vt:lpstr>
      <vt:lpstr>2.1 Masked Language Model（MLM） </vt:lpstr>
      <vt:lpstr>Problema dos Modelos Unidirecionais</vt:lpstr>
      <vt:lpstr>Ideia Principal do MLM</vt:lpstr>
      <vt:lpstr> Exemplo Simples</vt:lpstr>
      <vt:lpstr> Exemplo dos Três Casos</vt:lpstr>
      <vt:lpstr> Três Tipos de Substituição (Passo a Passo)</vt:lpstr>
      <vt:lpstr> Porque Usar Três Estratégias? (Problema do Desalinhamento)</vt:lpstr>
      <vt:lpstr> Como o Modelo Aprende?</vt:lpstr>
      <vt:lpstr> Comparação Rápida – BERT vs GPT</vt:lpstr>
      <vt:lpstr>  MLM -- Resumo Final (Takeaways)</vt:lpstr>
      <vt:lpstr>  Limitação do MLM (Motivação para o NSP)</vt:lpstr>
      <vt:lpstr>  O que é o NSP?</vt:lpstr>
      <vt:lpstr>Como Construir os Dados para o NSP?</vt:lpstr>
      <vt:lpstr>  Exemplo 1 – IsNext (Frases Seguidas)</vt:lpstr>
      <vt:lpstr>  Exemplo 1 – IsNext (Frases Seguidas)</vt:lpstr>
      <vt:lpstr>  Exemplo 2 – NotNext (Frases Aleatórias)</vt:lpstr>
      <vt:lpstr>  Como o BERT Usa o Token [CLS] para o NSP?</vt:lpstr>
      <vt:lpstr>  Dois Objetivos de Treino (MLM + NSP)</vt:lpstr>
      <vt:lpstr>  Estrutura Completa de um Exemplo de Treino</vt:lpstr>
      <vt:lpstr>  Comparação com Visão Computacional (CV)</vt:lpstr>
      <vt:lpstr>  Resumo Final dos Dois Objetivos</vt:lpstr>
      <vt:lpstr>  O que é a Binary Crossentropy?</vt:lpstr>
      <vt:lpstr>  Aplicações Típicas (Exemplos)</vt:lpstr>
      <vt:lpstr>  Formato dos Rótulos e Saídas</vt:lpstr>
      <vt:lpstr>  Ideia Intuitiva</vt:lpstr>
      <vt:lpstr>  Fórmula Matemática (Um Exemplo)</vt:lpstr>
      <vt:lpstr>  Exemplo Numérico (Caso 1)</vt:lpstr>
      <vt:lpstr>  Exemplo Numérico (Caso 2)</vt:lpstr>
      <vt:lpstr>  Exemplo Numérico (Caso 3)</vt:lpstr>
      <vt:lpstr>  Média para um Lote (Batch)</vt:lpstr>
      <vt:lpstr>  Comparação com Categorical Crossentropy</vt:lpstr>
      <vt:lpstr>  Resumo Final (Binary Crossentropy)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Vilela de Oliveira</dc:creator>
  <cp:lastModifiedBy>Charles Henrique Goncalves Santos</cp:lastModifiedBy>
  <cp:revision>440</cp:revision>
  <cp:lastPrinted>2022-07-08T18:57:35Z</cp:lastPrinted>
  <dcterms:created xsi:type="dcterms:W3CDTF">2018-11-12T17:39:17Z</dcterms:created>
  <dcterms:modified xsi:type="dcterms:W3CDTF">2026-05-10T17:36:13Z</dcterms:modified>
</cp:coreProperties>
</file>